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Same polished grid; dry captions, understated humor, persistent 'Fictional personnel story' footer. All personnel events, dialogue and actions are invented. Source figures are analytical teaching context only.</a:t>
            </a:r>
          </a:p>
          <a:p/>
          <a:p>
            <a:r>
              <a:t>Slide copy:</a:t>
            </a:r>
          </a:p>
          <a:p>
            <a:r>
              <a:t>Every personnel event and character action in this deck is invented.</a:t>
            </a:r>
          </a:p>
          <a:p>
            <a:r>
              <a:t>No actual employee, allegation, firing or impairment is described.</a:t>
            </a:r>
          </a:p>
          <a:p>
            <a:r>
              <a:t>Real contract figures appear only as labeled teaching context.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All personnel events, dialogue and actions are invented. Source figures are analytical teaching context only.</a:t>
            </a:r>
          </a:p>
          <a:p/>
          <a:p>
            <a:r>
              <a:t>Slide copy:</a:t>
            </a:r>
          </a:p>
          <a:p>
            <a:r>
              <a:t>Invented Greg pasted $700m beside 'annual expense.'</a:t>
            </a:r>
          </a:p>
          <a:p>
            <a:r>
              <a:t>He placed worldwide athlete earnings in a Dodgers revenue column.</a:t>
            </a:r>
          </a:p>
          <a:p>
            <a:r>
              <a:t>He called the missing U.S. split 'close enough.'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All personnel events, dialogue and actions are invented. Source figures are analytical teaching context only.</a:t>
            </a:r>
          </a:p>
          <a:p/>
          <a:p>
            <a:r>
              <a:t>Slide copy:</a:t>
            </a:r>
          </a:p>
          <a:p>
            <a:r>
              <a:t>Real reported terms: $700m nominal; $2m annually in 2024–33.</a:t>
            </a:r>
          </a:p>
          <a:p>
            <a:r>
              <a:t>Real reported deferred payments: $68m annually in 2034–43.</a:t>
            </a:r>
          </a:p>
          <a:p>
            <a:r>
              <a:t>Approximately $46m annual CBT payroll charge is another measure.</a:t>
            </a:r>
          </a:p>
          <a:p>
            <a:r>
              <a:t>The fictional argument is invented; the contract figures are sourced.</a:t>
            </a:r>
          </a:p>
          <a:p/>
          <a:p>
            <a:r>
              <a:t>Sources:</a:t>
            </a:r>
          </a:p>
          <a:p>
            <a:r>
              <a:t>[MLB1] MLB: Ohtani contract deferrals explained 2023-12-12</a:t>
            </a:r>
          </a:p>
          <a:p>
            <a:r>
              <a:t>https://www.mlb.com/news/shohei-ohtani-dodgers-deal-deferrals-explained</a:t>
            </a:r>
          </a:p>
          <a:p>
            <a:r>
              <a:t>Limit: League reporting cites an unnamed source for full terms; CBT amount approximate.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All personnel events, dialogue and actions are invented. Source figures are analytical teaching context only.</a:t>
            </a:r>
          </a:p>
          <a:p/>
          <a:p>
            <a:r>
              <a:t>Slide copy:</a:t>
            </a:r>
          </a:p>
          <a:p>
            <a:r>
              <a:t>Fred gave the player, club and advertiser separate worksheets.</a:t>
            </a:r>
          </a:p>
          <a:p>
            <a:r>
              <a:t>Greg objected that three tabs felt bureaucratic.</a:t>
            </a:r>
          </a:p>
          <a:p>
            <a:r>
              <a:t>Fred replied, 'So does three people sharing one bank account.'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All personnel events, dialogue and actions are invented. Source figures are analytical teaching context only.</a:t>
            </a:r>
          </a:p>
          <a:p/>
          <a:p>
            <a:r>
              <a:t>Slide copy:</a:t>
            </a:r>
          </a:p>
          <a:p>
            <a:r>
              <a:t>Real illustration: modeled payment PV is $337.8m at 5%.</a:t>
            </a:r>
          </a:p>
          <a:p>
            <a:r>
              <a:t>The model date is December 31, 2023, with year-end payments.</a:t>
            </a:r>
          </a:p>
          <a:p>
            <a:r>
              <a:t>Fictional Greg relabeled it 'cash left today.'</a:t>
            </a:r>
          </a:p>
          <a:p>
            <a:r>
              <a:t>Fictional Fred restored the date and removed the victory banner.</a:t>
            </a:r>
          </a:p>
          <a:p/>
          <a:p>
            <a:r>
              <a:t>Sources:</a:t>
            </a:r>
          </a:p>
          <a:p>
            <a:r>
              <a:t>[FRED_MODEL] Fred Cedar: illustrative original-decision payment DCF model valuation date 2023-12-31; prepared 2026-10-13</a:t>
            </a:r>
          </a:p>
          <a:p>
            <a:r>
              <a:t>../finance.json</a:t>
            </a:r>
          </a:p>
          <a:p>
            <a:r>
              <a:t>Limit: Illustrative original-decision payment DCF dated December 31, 2023; nominal pretax USD, year-end timing; excludes other club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All personnel events, dialogue and actions are invented. Greg is terminated from the fictional agency, causes a reception scene, returns uninvited the next day drunk, vomits in the mailroom, and leaves safely with help. No transfer, reassignment or return to employment occurs.</a:t>
            </a:r>
          </a:p>
          <a:p/>
          <a:p>
            <a:r>
              <a:t>Slide copy:</a:t>
            </a:r>
          </a:p>
          <a:p>
            <a:r>
              <a:t>The agency terminated Greg's employment after repeated refusal to correct his work.</a:t>
            </a:r>
          </a:p>
          <a:p>
            <a:r>
              <a:t>He arrived at reception, caused a scene and demanded that management 'restate the ending.'</a:t>
            </a:r>
          </a:p>
          <a:p>
            <a:r>
              <a:t>He left with his mug marked 'Directionally Correct.' The agency kept the stapler.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All personnel events, dialogue and actions are invented. Greg is terminated from the fictional agency, causes a reception scene, returns uninvited the next day drunk, vomits in the mailroom, and leaves safely with help. No transfer, reassignment or return to employment occurs.</a:t>
            </a:r>
          </a:p>
          <a:p/>
          <a:p>
            <a:r>
              <a:t>Slide copy:</a:t>
            </a:r>
          </a:p>
          <a:p>
            <a:r>
              <a:t>Greg returned to the agency uninvited and drunk.</a:t>
            </a:r>
          </a:p>
          <a:p>
            <a:r>
              <a:t>He entered the mailroom and vomited beside the sorter.</a:t>
            </a:r>
          </a:p>
          <a:p>
            <a:r>
              <a:t>A colleague stopped the equipment; others arranged a safe ride away.</a:t>
            </a:r>
          </a:p>
          <a:p>
            <a:r>
              <a:t>Greg remained a former employee. The incident ended with a safe exit.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All personnel events, dialogue and actions are invented. Greg is terminated from the fictional agency, causes a reception scene, returns uninvited the next day drunk, vomits in the mailroom, and leaves safely with help. No transfer, reassignment or return to employment occurs.</a:t>
            </a:r>
          </a:p>
          <a:p/>
          <a:p>
            <a:r>
              <a:t>Slide copy:</a:t>
            </a:r>
          </a:p>
          <a:p>
            <a:r>
              <a:t>Colleagues helped Greg leave safely after his uninvited return.</a:t>
            </a:r>
          </a:p>
          <a:p>
            <a:r>
              <a:t>Fred restored source labels, dates and recipient boundaries.</a:t>
            </a:r>
          </a:p>
          <a:p>
            <a:r>
              <a:t>The agency gave its remaining team a checklist and clear review ownership.</a:t>
            </a:r>
          </a:p>
          <a:p>
            <a:r>
              <a:t>Greg's termination stood. His worst day did not become office entertainment.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All personnel events, dialogue and actions are invented. Source figures are analytical teaching context only.</a:t>
            </a:r>
          </a:p>
          <a:p/>
          <a:p>
            <a:r>
              <a:t>Slide copy:</a:t>
            </a:r>
          </a:p>
          <a:p>
            <a:r>
              <a:t>Cash timing, payroll accounting and modeled PV answer different questions.</a:t>
            </a:r>
          </a:p>
          <a:p>
            <a:r>
              <a:t>An announced sponsorship does not disclose its price or incremental profit.</a:t>
            </a:r>
          </a:p>
          <a:p>
            <a:r>
              <a:t>No real ledger error or personnel misconduct has been established.</a:t>
            </a:r>
          </a:p>
          <a:p>
            <a:r>
              <a:t>All Greg and Fred dialogue, actions and workplace incidents are invented.</a:t>
            </a:r>
          </a:p>
          <a:p/>
          <a:p>
            <a:r>
              <a:t>Sources:</a:t>
            </a:r>
          </a:p>
          <a:p>
            <a:r>
              <a:t>[FRED_MODEL] Fred Cedar: illustrative original-decision payment DCF model valuation date 2023-12-31; prepared 2026-10-13</a:t>
            </a:r>
          </a:p>
          <a:p>
            <a:r>
              <a:t>../finance.json</a:t>
            </a:r>
          </a:p>
          <a:p>
            <a:r>
              <a:t>Limit: Illustrative original-decision payment DCF dated December 31, 2023; nominal pretax USD, year-end timing; excludes other club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Fictional story, personnel events and dialogue. No claims about actual misconduct.</a:t>
            </a:r>
          </a:p>
          <a:p>
            <a:r>
              <a:t>Read each source with its date, recipient, measurement period and disclosure limits. All personnel actions, dialogue and incidents are invented.</a:t>
            </a:r>
          </a:p>
          <a:p/>
          <a:p>
            <a:r>
              <a:t>Slide copy:</a:t>
            </a:r>
          </a:p>
          <a:p/>
          <a:p/>
          <a:p>
            <a:r>
              <a:t>Sources:</a:t>
            </a:r>
          </a:p>
          <a:p>
            <a:r>
              <a:t>[MLB1] MLB: Ohtani contract deferrals explained 2023-12-12</a:t>
            </a:r>
          </a:p>
          <a:p>
            <a:r>
              <a:t>https://www.mlb.com/news/shohei-ohtani-dodgers-deal-deferrals-explained</a:t>
            </a:r>
          </a:p>
          <a:p>
            <a:r>
              <a:t>Limit: League reporting cites an unnamed source for full terms; CBT amount approximate.</a:t>
            </a:r>
          </a:p>
          <a:p>
            <a:r>
              <a:t>[FRED_MODEL] Fred Cedar: illustrative original-decision payment DCF model valuation date 2023-12-31; prepared 2026-10-13</a:t>
            </a:r>
          </a:p>
          <a:p>
            <a:r>
              <a:t>../finance.json</a:t>
            </a:r>
          </a:p>
          <a:p>
            <a:r>
              <a:t>Limit: Illustrative original-decision payment DCF dated December 31, 2023; nominal pretax USD, year-end timing; excludes other club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lb.com/news/shohei-ohtani-dodgers-deal-deferrals-explained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finance.json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finance.json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lb.com/news/shohei-ohtani-dodgers-deal-deferrals-explained" TargetMode="External"/><Relationship Id="rId3" Type="http://schemas.openxmlformats.org/officeDocument/2006/relationships/hyperlink" Target="../finance.json" TargetMode="Externa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Internal fiction | Greg versus Fred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The forecast was confident. The spreadsheet was fictional.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603500"/>
            <a:ext cx="10795000" cy="3302000"/>
          </a:xfrm>
          <a:prstGeom prst="roundRect">
            <a:avLst>
              <a:gd name="adj" fmla="val 12000"/>
            </a:avLst>
          </a:prstGeom>
          <a:solidFill>
            <a:srgbClr val="302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2882900"/>
            <a:ext cx="100330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67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FFFFF"/>
                </a:solidFill>
                <a:latin typeface="Arial"/>
              </a:defRPr>
            </a:pPr>
            <a:r>
              <a:t>An entirely fictional internal personnel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4064000"/>
            <a:ext cx="10033000" cy="152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Every personnel event and character action in this deck is invented.</a:t>
            </a:r>
          </a:p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No actual employee, allegation, firing or impairment is described.</a:t>
            </a:r>
          </a:p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Real contract figures appear only as labeled teaching context.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Opening balance | a confidence surplus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He had a number for everything except the source.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Invented Greg pasted $700m beside 'annual expense.'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763433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674533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He placed worldwide athlete earnings in a Dodgers revenue column.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834466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745566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He called the missing U.S. split 'close enough.'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Fred checks the units | real contract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Fred asked the cells to introduce themselves.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Real reported terms: $700m nominal; $2m annually in 2024-33.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Real reported deferred payments: $68m annually in 2034-43.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Approximately $46m annual CBT payroll charge is another measure.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The fictional argument is invented; the contract figures are sourced.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070600"/>
            <a:ext cx="10642600" cy="368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rPr>
                <a:hlinkClick r:id="rId2"/>
              </a:rPr>
              <a:t>[MLB1] www.mlb.com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Three ledgers | one paste shortcut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Three recipients. One Greg with a paste shortcut.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Fred gave the player, club and advertiser separate worksheets.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763433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674533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Greg objected that three tabs felt bureaucratic.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834466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745566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Fred replied, 'So does three people sharing one bank account.'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Valuation review | the date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Fred found a date. Greg found it inconvenient.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Real illustration: modeled payment PV is $337.8m at 5%.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The model date is December 31, 2023, with year-end payments.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Fictional Greg relabeled it 'cash left today.'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Fictional Fred restored the date and removed the victory banner.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070600"/>
            <a:ext cx="10642600" cy="368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rPr>
                <a:hlinkClick r:id="rId2"/>
              </a:rPr>
              <a:t>[FRED_MODEL] finance.json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Termination | the close was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Greg was fired from the agency. He disputed the ending.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The agency terminated Greg's employment after repeated refusal to correct his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763433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674533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He arrived at reception, caused a scene and demanded that management 'restate the</a:t>
            </a:r>
          </a:p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ending.'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834466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745566"/>
            <a:ext cx="10541000" cy="8424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He left with his mug marked 'Directionally Correct.' The agency kept the stapler.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The next day | an unscheduled arrival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The mailroom had signed up for parcels.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Greg returned to the agency uninvited and drunk.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He entered the mailroom and vomited beside the sorter.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A colleague stopped the equipment; others arranged a safe ride away.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Greg remained a former employee. The incident ended with a safe exit.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The closeout | correct the accounts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Fred repaired the model. Colleagues preserved Greg's dignity.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Colleagues helped Greg leave safely after his uninvited return.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Fred restored source labels, dates and recipient boundaries.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The agency gave its remaining team a checklist and clear review ownership.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Greg's termination stood. His worst day did not become office entertainment.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NO ACTUAL EMPLOYEE ALLEGATIONS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Close the workbook | keep the lesson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745F54"/>
                </a:solidFill>
                <a:latin typeface="Arial"/>
              </a:defRPr>
            </a:pPr>
            <a:r>
              <a:t>The spreadsheet can be repaired without a victory lap.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Cash timing, payroll accounting and modeled PV answer different questions.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An announced sponsorship does not disclose its price or incremental profit.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No real ledger error or personnel misconduct has been established.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02825"/>
                </a:solidFill>
                <a:latin typeface="Arial"/>
              </a:defRPr>
            </a:pPr>
            <a:r>
              <a:t>All Greg and Fred dialogue, actions and workplace incidents are invented.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070600"/>
            <a:ext cx="10642600" cy="368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rPr>
                <a:hlinkClick r:id="rId2"/>
              </a:rPr>
              <a:t>[FRED_MODEL] finance.json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B84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45F54"/>
                </a:solidFill>
                <a:latin typeface="Arial"/>
              </a:defRPr>
            </a:pPr>
            <a:r>
              <a:t>FICTIONAL PERSONNEL STORY | REAL FIGURES ARE TEACHING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302825"/>
                </a:solidFill>
                <a:latin typeface="Arial"/>
              </a:defRPr>
            </a:pPr>
            <a:r>
              <a:t>Sources and model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4648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7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02825"/>
                </a:solidFill>
                <a:latin typeface="Arial"/>
              </a:defRPr>
            </a:pPr>
            <a:r>
              <a:rPr>
                <a:hlinkClick r:id="rId2"/>
              </a:rPr>
              <a:t>[MLB1] MLB: Ohtani contract deferrals explained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97100"/>
            <a:ext cx="104648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02825"/>
                </a:solidFill>
                <a:latin typeface="Arial"/>
              </a:defRPr>
            </a:pPr>
            <a:r>
              <a:rPr>
                <a:hlinkClick r:id="rId2"/>
              </a:rPr>
              <a:t>www.mlb.com | 2023-12-12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54300"/>
            <a:ext cx="104648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7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02825"/>
                </a:solidFill>
                <a:latin typeface="Arial"/>
              </a:defRPr>
            </a:pPr>
            <a:r>
              <a:rPr>
                <a:hlinkClick r:id="rId3"/>
              </a:rPr>
              <a:t>[FRED_MODEL] Fred Cedar: illustrative original-decision payment DCF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09900"/>
            <a:ext cx="104648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302825"/>
                </a:solidFill>
                <a:latin typeface="Arial"/>
              </a:defRPr>
            </a:pPr>
            <a:r>
              <a:rPr>
                <a:hlinkClick r:id="rId3"/>
              </a:rPr>
              <a:t>finance.json | model valuation date 2023-12-31; prepared 2026-10-13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F7DD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FICTIONAL SATIRE: Greg/Fred story and dialogue invented. Real contract examples are cited.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45F54"/>
                </a:solidFill>
                <a:latin typeface="Arial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Greg versus Fred</dc:title>
  <dc:subject/>
  <dc:creator>ST-1 team</dc:creator>
  <cp:keywords/>
  <dc:description>generated using python-pptx</dc:description>
  <cp:lastModifiedBy>Steve Canny</cp:lastModifiedBy>
  <cp:revision>1</cp:revision>
  <dcterms:created xsi:type="dcterms:W3CDTF">2023-12-31T00:00:00Z</dcterms:created>
  <dcterms:modified xsi:type="dcterms:W3CDTF">2023-12-31T00:00:00Z</dcterms:modified>
  <cp:category/>
</cp:coreProperties>
</file>