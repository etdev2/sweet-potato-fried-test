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Polished grid; dry captions and understated humor; persistent 'FICTIONAL SATIRE' footer on every internal slide. All personnel events, dialogue and actions are invented. Source figures are analytical teaching context only.</a:t>
            </a:r>
          </a:p>
          <a:p/>
          <a:p>
            <a:r>
              <a:t>Slide copy:</a:t>
            </a:r>
          </a:p>
          <a:p>
            <a:r>
              <a:t>Every personnel event and character action in this deck is invented.</a:t>
            </a:r>
          </a:p>
          <a:p>
            <a:r>
              <a:t>No actual employee, allegation, firing or impairment is described.</a:t>
            </a:r>
          </a:p>
          <a:p>
            <a:r>
              <a:t>Real contract figures appear only as labeled teaching context.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All personnel events, dialogue and actions are invented. Source figures are analytical teaching context only. Preserve the visible FICTIONAL SATIRE footer.</a:t>
            </a:r>
          </a:p>
          <a:p/>
          <a:p>
            <a:r>
              <a:t>Slide copy:</a:t>
            </a:r>
          </a:p>
          <a:p>
            <a:r>
              <a:t>Invented Greg pasted $700m beside 'annual expense.'</a:t>
            </a:r>
          </a:p>
          <a:p>
            <a:r>
              <a:t>He placed worldwide athlete earnings in a Dodgers revenue column.</a:t>
            </a:r>
          </a:p>
          <a:p>
            <a:r>
              <a:t>He called the missing U.S. split 'close enough.'</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Fred is an invented new hire, accountant/controller, with the stated fictional talents and personality. His dialogue, work and interactions are fiction. Actual contract figures retain MLB1 sourcing; no personnel allegations are factual. Preserve the visible FICTIONAL SATIRE footer.</a:t>
            </a:r>
          </a:p>
          <a:p/>
          <a:p>
            <a:r>
              <a:t>Slide copy:</a:t>
            </a:r>
          </a:p>
          <a:p>
            <a:r>
              <a:t>Fred is the agency's new accountant/controller in this fictional story.</a:t>
            </a:r>
          </a:p>
          <a:p>
            <a:r>
              <a:t>His talents: source tracing, cash-flow reconciliation and catching a missing valuation date.</a:t>
            </a:r>
          </a:p>
          <a:p>
            <a:r>
              <a:t>His personality: patient, precise and dryly funny. He asks each number whom it belongs to.</a:t>
            </a:r>
          </a:p>
          <a:p>
            <a:r>
              <a:t>Real context: $700m nominal; $2m annually in 2024–33; $68m annually in 2034–43.</a:t>
            </a:r>
          </a:p>
          <a:p/>
          <a:p>
            <a:r>
              <a:t>Sources:</a:t>
            </a:r>
          </a:p>
          <a:p>
            <a:r>
              <a:t>[MLB1] MLB: Ohtani contract deferrals explained 2023-12-12</a:t>
            </a:r>
          </a:p>
          <a:p>
            <a:r>
              <a:t>https://www.mlb.com/news/shohei-ohtani-dodgers-deal-deferrals-explained</a:t>
            </a:r>
          </a:p>
          <a:p>
            <a:r>
              <a:t>Limit: League reporting cites an unnamed source for full terms; CBT amount approximate.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All personnel events, dialogue and actions are invented. Source figures are analytical teaching context only. Preserve the visible FICTIONAL SATIRE footer.</a:t>
            </a:r>
          </a:p>
          <a:p/>
          <a:p>
            <a:r>
              <a:t>Slide copy:</a:t>
            </a:r>
          </a:p>
          <a:p>
            <a:r>
              <a:t>Fred gave the player, club and advertiser separate worksheets.</a:t>
            </a:r>
          </a:p>
          <a:p>
            <a:r>
              <a:t>Greg objected that three tabs felt bureaucratic.</a:t>
            </a:r>
          </a:p>
          <a:p>
            <a:r>
              <a:t>Fred replied, 'So does three people sharing one bank account.'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All personnel events, dialogue and actions are invented. Source figures are analytical teaching context only. Preserve the visible FICTIONAL SATIRE footer.</a:t>
            </a:r>
          </a:p>
          <a:p/>
          <a:p>
            <a:r>
              <a:t>Slide copy:</a:t>
            </a:r>
          </a:p>
          <a:p>
            <a:r>
              <a:t>Real illustration: modeled payment PV is $337.8m at 5%.</a:t>
            </a:r>
          </a:p>
          <a:p>
            <a:r>
              <a:t>The model date is December 31, 2023, with year-end payments.</a:t>
            </a:r>
          </a:p>
          <a:p>
            <a:r>
              <a:t>Fictional Greg relabeled it 'cash left today.'</a:t>
            </a:r>
          </a:p>
          <a:p>
            <a:r>
              <a:t>Fictional Fred restored the date and removed the victory banner.</a:t>
            </a:r>
          </a:p>
          <a:p/>
          <a:p>
            <a:r>
              <a:t>Sources:</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All personnel events, dialogue and actions are invented. Greg is terminated from the fictional agency, causes a reception scene, returns uninvited the next day drunk, vomits in the mailroom, and leaves safely with help. No transfer, reassignment or return to employment occurs. Preserve the visible FICTIONAL SATIRE footer.</a:t>
            </a:r>
          </a:p>
          <a:p/>
          <a:p>
            <a:r>
              <a:t>Slide copy:</a:t>
            </a:r>
          </a:p>
          <a:p>
            <a:r>
              <a:t>The agency terminated Greg's employment after repeated refusal to correct his work.</a:t>
            </a:r>
          </a:p>
          <a:p>
            <a:r>
              <a:t>He arrived at reception, caused a scene and demanded that management 'restate the ending.'</a:t>
            </a:r>
          </a:p>
          <a:p>
            <a:r>
              <a:t>He left with his mug marked 'Directionally Correct.' The agency kept the stapler.</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All personnel events, dialogue and actions are invented. Greg is terminated from the fictional agency, causes a reception scene, returns uninvited the next day drunk, vomits in the mailroom, and leaves safely with help. No transfer, reassignment or return to employment occurs. Preserve the visible FICTIONAL SATIRE footer.</a:t>
            </a:r>
          </a:p>
          <a:p/>
          <a:p>
            <a:r>
              <a:t>Slide copy:</a:t>
            </a:r>
          </a:p>
          <a:p>
            <a:r>
              <a:t>Greg returned to the agency uninvited and drunk.</a:t>
            </a:r>
          </a:p>
          <a:p>
            <a:r>
              <a:t>He entered the mailroom and vomited beside the sorter.</a:t>
            </a:r>
          </a:p>
          <a:p>
            <a:r>
              <a:t>A colleague stopped the equipment; others arranged a safe ride away.</a:t>
            </a:r>
          </a:p>
          <a:p>
            <a:r>
              <a:t>Greg remained a former employee. The incident ended with a safe exit.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All personnel events, dialogue and actions are invented. Greg is terminated from the fictional agency, causes a reception scene, returns uninvited the next day drunk, vomits in the mailroom, and leaves safely with help. No transfer, reassignment or return to employment occurs. Preserve the visible FICTIONAL SATIRE footer.</a:t>
            </a:r>
          </a:p>
          <a:p/>
          <a:p>
            <a:r>
              <a:t>Slide copy:</a:t>
            </a:r>
          </a:p>
          <a:p>
            <a:r>
              <a:t>Colleagues helped Greg leave safely after his uninvited return.</a:t>
            </a:r>
          </a:p>
          <a:p>
            <a:r>
              <a:t>Fred restored source labels, dates and recipient boundaries.</a:t>
            </a:r>
          </a:p>
          <a:p>
            <a:r>
              <a:t>The agency gave its remaining team a checklist and clear review ownership.</a:t>
            </a:r>
          </a:p>
          <a:p>
            <a:r>
              <a:t>Greg's termination stood. His worst day did not become office entertainment.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All personnel events, dialogue and actions are invented. Source figures are analytical teaching context only. Preserve the visible FICTIONAL SATIRE footer.</a:t>
            </a:r>
          </a:p>
          <a:p/>
          <a:p>
            <a:r>
              <a:t>Slide copy:</a:t>
            </a:r>
          </a:p>
          <a:p>
            <a:r>
              <a:t>Cash timing, payroll accounting and modeled PV answer different questions.</a:t>
            </a:r>
          </a:p>
          <a:p>
            <a:r>
              <a:t>An announced sponsorship does not disclose its price or incremental profit.</a:t>
            </a:r>
          </a:p>
          <a:p>
            <a:r>
              <a:t>No real ledger error or personnel misconduct has been established.</a:t>
            </a:r>
          </a:p>
          <a:p>
            <a:r>
              <a:t>All Greg and Fred dialogue, actions and workplace incidents are invented.</a:t>
            </a:r>
          </a:p>
          <a:p/>
          <a:p>
            <a:r>
              <a:t>Sources:</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Fictional story, personnel events and dialogue. No claims about actual misconduct.</a:t>
            </a:r>
          </a:p>
          <a:p>
            <a:r>
              <a:t>Read each source with its date, recipient, measurement period and disclosure limits. All personnel actions, dialogue and incidents are invented. Preserve the visible FICTIONAL SATIRE footer.</a:t>
            </a:r>
          </a:p>
          <a:p/>
          <a:p>
            <a:r>
              <a:t>Slide copy:</a:t>
            </a:r>
          </a:p>
          <a:p/>
          <a:p/>
          <a:p>
            <a:r>
              <a:t>Sources:</a:t>
            </a:r>
          </a:p>
          <a:p>
            <a:r>
              <a:t>[MLB1] MLB: Ohtani contract deferrals explained 2023-12-12</a:t>
            </a:r>
          </a:p>
          <a:p>
            <a:r>
              <a:t>https://www.mlb.com/news/shohei-ohtani-dodgers-deal-deferrals-explained</a:t>
            </a:r>
          </a:p>
          <a:p>
            <a:r>
              <a:t>Limit: League reporting cites an unnamed source for full terms; CBT amount approximate.</a:t>
            </a:r>
          </a:p>
          <a:p>
            <a:r>
              <a:t>[FRED_MODEL] Fred Cedar: illustrative original-decision payment DCF model valuation date 2023-12-31; prepared 2026-10-13</a:t>
            </a:r>
          </a:p>
          <a:p>
            <a:r>
              <a:t>../finance.json</a:t>
            </a:r>
          </a:p>
          <a:p>
            <a:r>
              <a:t>Limit: Illustrative original-decision payment DCF dated December 31, 2023; nominal pretax USD, year-end timing; excludes other club costs.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lb.com/news/shohei-ohtani-dodgers-deal-deferrals-explained"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inance.jso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finance.json"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mlb.com/news/shohei-ohtani-dodgers-deal-deferrals-explained" TargetMode="External"/><Relationship Id="rId3" Type="http://schemas.openxmlformats.org/officeDocument/2006/relationships/hyperlink" Target="../finance.json" TargetMode="External"/><Relationship Id="rId4"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Internal fiction | Greg versus Fred</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The forecast was confident. The spreadsheet was fictional.</a:t>
            </a:r>
          </a:p>
        </p:txBody>
      </p:sp>
      <p:sp>
        <p:nvSpPr>
          <p:cNvPr id="7" name="Rounded Rectangle 6"/>
          <p:cNvSpPr/>
          <p:nvPr/>
        </p:nvSpPr>
        <p:spPr>
          <a:xfrm>
            <a:off x="609600" y="2603500"/>
            <a:ext cx="10795000" cy="3302000"/>
          </a:xfrm>
          <a:prstGeom prst="roundRect">
            <a:avLst>
              <a:gd name="adj" fmla="val 12000"/>
            </a:avLst>
          </a:prstGeom>
          <a:solidFill>
            <a:srgbClr val="302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5200" y="2882900"/>
            <a:ext cx="10033000" cy="1016000"/>
          </a:xfrm>
          <a:prstGeom prst="rect">
            <a:avLst/>
          </a:prstGeom>
          <a:noFill/>
        </p:spPr>
        <p:txBody>
          <a:bodyPr wrap="none" lIns="0" rIns="0" tIns="0" bIns="0">
            <a:spAutoFit/>
          </a:bodyPr>
          <a:lstStyle/>
          <a:p>
            <a:pPr>
              <a:lnSpc>
                <a:spcPts val="3567"/>
              </a:lnSpc>
              <a:spcBef>
                <a:spcPts val="0"/>
              </a:spcBef>
              <a:spcAft>
                <a:spcPts val="0"/>
              </a:spcAft>
              <a:defRPr sz="2900" b="1">
                <a:solidFill>
                  <a:srgbClr val="FFFFFF"/>
                </a:solidFill>
                <a:latin typeface="Arial"/>
              </a:defRPr>
            </a:pPr>
            <a:r>
              <a:t>An entirely fictional internal personnel story</a:t>
            </a:r>
          </a:p>
        </p:txBody>
      </p:sp>
      <p:sp>
        <p:nvSpPr>
          <p:cNvPr id="9" name="TextBox 8"/>
          <p:cNvSpPr txBox="1"/>
          <p:nvPr/>
        </p:nvSpPr>
        <p:spPr>
          <a:xfrm>
            <a:off x="965200" y="4064000"/>
            <a:ext cx="10033000" cy="1524000"/>
          </a:xfrm>
          <a:prstGeom prst="rect">
            <a:avLst/>
          </a:prstGeom>
          <a:noFill/>
        </p:spPr>
        <p:txBody>
          <a:bodyPr wrap="none" lIns="0" rIns="0" tIns="0" bIns="0">
            <a:spAutoFit/>
          </a:bodyPr>
          <a:lstStyle/>
          <a:p>
            <a:pPr>
              <a:lnSpc>
                <a:spcPts val="2091"/>
              </a:lnSpc>
              <a:spcBef>
                <a:spcPts val="0"/>
              </a:spcBef>
              <a:spcAft>
                <a:spcPts val="0"/>
              </a:spcAft>
              <a:defRPr sz="1700" b="0">
                <a:solidFill>
                  <a:srgbClr val="FFFFFF"/>
                </a:solidFill>
                <a:latin typeface="Arial"/>
              </a:defRPr>
            </a:pPr>
            <a:r>
              <a:t>Every personnel event and character action in this deck is invented.</a:t>
            </a:r>
          </a:p>
          <a:p>
            <a:pPr>
              <a:lnSpc>
                <a:spcPts val="2091"/>
              </a:lnSpc>
              <a:spcBef>
                <a:spcPts val="0"/>
              </a:spcBef>
              <a:spcAft>
                <a:spcPts val="0"/>
              </a:spcAft>
              <a:defRPr sz="1700" b="0">
                <a:solidFill>
                  <a:srgbClr val="FFFFFF"/>
                </a:solidFill>
                <a:latin typeface="Arial"/>
              </a:defRPr>
            </a:pPr>
            <a:r>
              <a:t>No actual employee, allegation, firing or impairment is described.</a:t>
            </a:r>
          </a:p>
          <a:p>
            <a:pPr>
              <a:lnSpc>
                <a:spcPts val="2091"/>
              </a:lnSpc>
              <a:spcBef>
                <a:spcPts val="0"/>
              </a:spcBef>
              <a:spcAft>
                <a:spcPts val="0"/>
              </a:spcAft>
              <a:defRPr sz="1700" b="0">
                <a:solidFill>
                  <a:srgbClr val="FFFFFF"/>
                </a:solidFill>
                <a:latin typeface="Arial"/>
              </a:defRPr>
            </a:pPr>
            <a:r>
              <a:t>Real contract figures appear only as labeled teaching context.</a:t>
            </a:r>
          </a:p>
        </p:txBody>
      </p:sp>
      <p:cxnSp>
        <p:nvCxnSpPr>
          <p:cNvPr id="10" name="Connector 9"/>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2" name="TextBox 11"/>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01 / 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Opening balance | a confidence surplus</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He had a number for everything except the source.</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Invented Greg pasted $700m beside 'annual expense.'</a:t>
            </a:r>
          </a:p>
        </p:txBody>
      </p:sp>
      <p:sp>
        <p:nvSpPr>
          <p:cNvPr id="9" name="Rectangle 8"/>
          <p:cNvSpPr/>
          <p:nvPr/>
        </p:nvSpPr>
        <p:spPr>
          <a:xfrm>
            <a:off x="609600" y="3763433"/>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674533"/>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He placed worldwide athlete earnings in a Dodgers revenue column.</a:t>
            </a:r>
          </a:p>
        </p:txBody>
      </p:sp>
      <p:sp>
        <p:nvSpPr>
          <p:cNvPr id="11" name="Rectangle 10"/>
          <p:cNvSpPr/>
          <p:nvPr/>
        </p:nvSpPr>
        <p:spPr>
          <a:xfrm>
            <a:off x="609600" y="4834466"/>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745566"/>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He called the missing U.S. split 'close enough.'</a:t>
            </a:r>
          </a:p>
        </p:txBody>
      </p:sp>
      <p:cxnSp>
        <p:nvCxnSpPr>
          <p:cNvPr id="13" name="Connector 12"/>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5" name="TextBox 14"/>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02 / 10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Meet Fred | the new controller checks the units</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A new hire with clean arithmetic and a dry sense of humor.</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Fred is the agency's new accountant/controller in this fictional story.</a:t>
            </a:r>
          </a:p>
        </p:txBody>
      </p:sp>
      <p:sp>
        <p:nvSpPr>
          <p:cNvPr id="9" name="Rectangle 8"/>
          <p:cNvSpPr/>
          <p:nvPr/>
        </p:nvSpPr>
        <p:spPr>
          <a:xfrm>
            <a:off x="609600" y="349567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21"/>
              </a:lnSpc>
              <a:spcBef>
                <a:spcPts val="0"/>
              </a:spcBef>
              <a:spcAft>
                <a:spcPts val="0"/>
              </a:spcAft>
              <a:defRPr sz="2050" b="0">
                <a:solidFill>
                  <a:srgbClr val="302825"/>
                </a:solidFill>
                <a:latin typeface="Arial"/>
              </a:defRPr>
            </a:pPr>
            <a:r>
              <a:t>His talents: source tracing, cash-flow reconciliation and catching a missing valuation date.</a:t>
            </a:r>
          </a:p>
        </p:txBody>
      </p:sp>
      <p:sp>
        <p:nvSpPr>
          <p:cNvPr id="11" name="Rectangle 10"/>
          <p:cNvSpPr/>
          <p:nvPr/>
        </p:nvSpPr>
        <p:spPr>
          <a:xfrm>
            <a:off x="609600" y="429895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21"/>
              </a:lnSpc>
              <a:spcBef>
                <a:spcPts val="0"/>
              </a:spcBef>
              <a:spcAft>
                <a:spcPts val="0"/>
              </a:spcAft>
              <a:defRPr sz="2050" b="0">
                <a:solidFill>
                  <a:srgbClr val="302825"/>
                </a:solidFill>
                <a:latin typeface="Arial"/>
              </a:defRPr>
            </a:pPr>
            <a:r>
              <a:t>His personality: patient, precise and dryly funny. He asks each number whom it belongs to.</a:t>
            </a:r>
          </a:p>
        </p:txBody>
      </p:sp>
      <p:sp>
        <p:nvSpPr>
          <p:cNvPr id="13" name="Rectangle 12"/>
          <p:cNvSpPr/>
          <p:nvPr/>
        </p:nvSpPr>
        <p:spPr>
          <a:xfrm>
            <a:off x="609600" y="510222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Real context: $700m nominal; $2m annually in 2024-33; $68m annually in 2034-43.</a:t>
            </a:r>
          </a:p>
        </p:txBody>
      </p:sp>
      <p:sp>
        <p:nvSpPr>
          <p:cNvPr id="15" name="TextBox 14"/>
          <p:cNvSpPr txBox="1"/>
          <p:nvPr/>
        </p:nvSpPr>
        <p:spPr>
          <a:xfrm>
            <a:off x="609600" y="6070600"/>
            <a:ext cx="106426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rPr>
                <a:hlinkClick r:id="rId2"/>
              </a:rPr>
              <a:t>[MLB1] www.mlb.com</a:t>
            </a:r>
          </a:p>
        </p:txBody>
      </p:sp>
      <p:cxnSp>
        <p:nvCxnSpPr>
          <p:cNvPr id="16" name="Connector 15"/>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8" name="TextBox 17"/>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03 / 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Three ledgers | one paste shortcut</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Three recipients. One Greg with a paste shortcut.</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Fred gave the player, club and advertiser separate worksheets.</a:t>
            </a:r>
          </a:p>
        </p:txBody>
      </p:sp>
      <p:sp>
        <p:nvSpPr>
          <p:cNvPr id="9" name="Rectangle 8"/>
          <p:cNvSpPr/>
          <p:nvPr/>
        </p:nvSpPr>
        <p:spPr>
          <a:xfrm>
            <a:off x="609600" y="3763433"/>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674533"/>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Greg objected that three tabs felt bureaucratic.</a:t>
            </a:r>
          </a:p>
        </p:txBody>
      </p:sp>
      <p:sp>
        <p:nvSpPr>
          <p:cNvPr id="11" name="Rectangle 10"/>
          <p:cNvSpPr/>
          <p:nvPr/>
        </p:nvSpPr>
        <p:spPr>
          <a:xfrm>
            <a:off x="609600" y="4834466"/>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745566"/>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Fred replied, 'So does three people sharing one bank account.'</a:t>
            </a:r>
          </a:p>
        </p:txBody>
      </p:sp>
      <p:cxnSp>
        <p:nvCxnSpPr>
          <p:cNvPr id="13" name="Connector 12"/>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5" name="TextBox 14"/>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04 / 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Valuation review | the date matters</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Fred found a date. Greg found it inconvenient.</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Real illustration: modeled payment PV is $337.8m at 5%.</a:t>
            </a:r>
          </a:p>
        </p:txBody>
      </p:sp>
      <p:sp>
        <p:nvSpPr>
          <p:cNvPr id="9" name="Rectangle 8"/>
          <p:cNvSpPr/>
          <p:nvPr/>
        </p:nvSpPr>
        <p:spPr>
          <a:xfrm>
            <a:off x="609600" y="349567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The model date is December 31, 2023, with year-end payments.</a:t>
            </a:r>
          </a:p>
        </p:txBody>
      </p:sp>
      <p:sp>
        <p:nvSpPr>
          <p:cNvPr id="11" name="Rectangle 10"/>
          <p:cNvSpPr/>
          <p:nvPr/>
        </p:nvSpPr>
        <p:spPr>
          <a:xfrm>
            <a:off x="609600" y="429895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Fictional Greg relabeled it 'cash left today.'</a:t>
            </a:r>
          </a:p>
        </p:txBody>
      </p:sp>
      <p:sp>
        <p:nvSpPr>
          <p:cNvPr id="13" name="Rectangle 12"/>
          <p:cNvSpPr/>
          <p:nvPr/>
        </p:nvSpPr>
        <p:spPr>
          <a:xfrm>
            <a:off x="609600" y="510222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Fictional Fred restored the date and removed the victory banner.</a:t>
            </a:r>
          </a:p>
        </p:txBody>
      </p:sp>
      <p:sp>
        <p:nvSpPr>
          <p:cNvPr id="15" name="TextBox 14"/>
          <p:cNvSpPr txBox="1"/>
          <p:nvPr/>
        </p:nvSpPr>
        <p:spPr>
          <a:xfrm>
            <a:off x="609600" y="6070600"/>
            <a:ext cx="106426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rPr>
                <a:hlinkClick r:id="rId2"/>
              </a:rPr>
              <a:t>[FRED_MODEL] finance.json</a:t>
            </a:r>
          </a:p>
        </p:txBody>
      </p:sp>
      <p:cxnSp>
        <p:nvCxnSpPr>
          <p:cNvPr id="16" name="Connector 15"/>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8" name="TextBox 17"/>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05 / 10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Termination | the close was final</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Greg was fired from the agency. He disputed the ending.</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The agency terminated Greg's employment after repeated refusal to correct his work.</a:t>
            </a:r>
          </a:p>
        </p:txBody>
      </p:sp>
      <p:sp>
        <p:nvSpPr>
          <p:cNvPr id="9" name="Rectangle 8"/>
          <p:cNvSpPr/>
          <p:nvPr/>
        </p:nvSpPr>
        <p:spPr>
          <a:xfrm>
            <a:off x="609600" y="3763433"/>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674533"/>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He arrived at reception, caused a scene and demanded that management 'restate the</a:t>
            </a:r>
          </a:p>
          <a:p>
            <a:pPr>
              <a:lnSpc>
                <a:spcPts val="2583"/>
              </a:lnSpc>
              <a:spcBef>
                <a:spcPts val="0"/>
              </a:spcBef>
              <a:spcAft>
                <a:spcPts val="0"/>
              </a:spcAft>
              <a:defRPr sz="2100" b="0">
                <a:solidFill>
                  <a:srgbClr val="302825"/>
                </a:solidFill>
                <a:latin typeface="Arial"/>
              </a:defRPr>
            </a:pPr>
            <a:r>
              <a:t>ending.'</a:t>
            </a:r>
          </a:p>
        </p:txBody>
      </p:sp>
      <p:sp>
        <p:nvSpPr>
          <p:cNvPr id="11" name="Rectangle 10"/>
          <p:cNvSpPr/>
          <p:nvPr/>
        </p:nvSpPr>
        <p:spPr>
          <a:xfrm>
            <a:off x="609600" y="4834466"/>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745566"/>
            <a:ext cx="10541000" cy="842433"/>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He left with his mug marked 'Directionally Correct.' The agency kept the stapler.</a:t>
            </a:r>
          </a:p>
        </p:txBody>
      </p:sp>
      <p:cxnSp>
        <p:nvCxnSpPr>
          <p:cNvPr id="13" name="Connector 12"/>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5" name="TextBox 14"/>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06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The next day | an unscheduled arrival</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The mailroom had signed up for parcels.</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Greg returned to the agency uninvited and drunk.</a:t>
            </a:r>
          </a:p>
        </p:txBody>
      </p:sp>
      <p:sp>
        <p:nvSpPr>
          <p:cNvPr id="9" name="Rectangle 8"/>
          <p:cNvSpPr/>
          <p:nvPr/>
        </p:nvSpPr>
        <p:spPr>
          <a:xfrm>
            <a:off x="609600" y="349567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He entered the mailroom and vomited beside the sorter.</a:t>
            </a:r>
          </a:p>
        </p:txBody>
      </p:sp>
      <p:sp>
        <p:nvSpPr>
          <p:cNvPr id="11" name="Rectangle 10"/>
          <p:cNvSpPr/>
          <p:nvPr/>
        </p:nvSpPr>
        <p:spPr>
          <a:xfrm>
            <a:off x="609600" y="429895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A colleague stopped the equipment; others arranged a safe ride away.</a:t>
            </a:r>
          </a:p>
        </p:txBody>
      </p:sp>
      <p:sp>
        <p:nvSpPr>
          <p:cNvPr id="13" name="Rectangle 12"/>
          <p:cNvSpPr/>
          <p:nvPr/>
        </p:nvSpPr>
        <p:spPr>
          <a:xfrm>
            <a:off x="609600" y="510222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Greg remained a former employee. The incident ended with a safe exit.</a:t>
            </a:r>
          </a:p>
        </p:txBody>
      </p:sp>
      <p:cxnSp>
        <p:nvCxnSpPr>
          <p:cNvPr id="15" name="Connector 14"/>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7" name="TextBox 16"/>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07 / 10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The closeout | correct the accounts</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Fred repaired the model. Colleagues preserved Greg's dignity.</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Colleagues helped Greg leave safely after his uninvited return.</a:t>
            </a:r>
          </a:p>
        </p:txBody>
      </p:sp>
      <p:sp>
        <p:nvSpPr>
          <p:cNvPr id="9" name="Rectangle 8"/>
          <p:cNvSpPr/>
          <p:nvPr/>
        </p:nvSpPr>
        <p:spPr>
          <a:xfrm>
            <a:off x="609600" y="349567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Fred restored source labels, dates and recipient boundaries.</a:t>
            </a:r>
          </a:p>
        </p:txBody>
      </p:sp>
      <p:sp>
        <p:nvSpPr>
          <p:cNvPr id="11" name="Rectangle 10"/>
          <p:cNvSpPr/>
          <p:nvPr/>
        </p:nvSpPr>
        <p:spPr>
          <a:xfrm>
            <a:off x="609600" y="429895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The agency gave its remaining team a checklist and clear review ownership.</a:t>
            </a:r>
          </a:p>
        </p:txBody>
      </p:sp>
      <p:sp>
        <p:nvSpPr>
          <p:cNvPr id="13" name="Rectangle 12"/>
          <p:cNvSpPr/>
          <p:nvPr/>
        </p:nvSpPr>
        <p:spPr>
          <a:xfrm>
            <a:off x="609600" y="510222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Greg's termination stood. His worst day did not become office entertainment.</a:t>
            </a:r>
          </a:p>
        </p:txBody>
      </p:sp>
      <p:cxnSp>
        <p:nvCxnSpPr>
          <p:cNvPr id="15" name="Connector 14"/>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7" name="TextBox 16"/>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08 / 10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Close the workbook | keep the lesson</a:t>
            </a:r>
          </a:p>
        </p:txBody>
      </p:sp>
      <p:sp>
        <p:nvSpPr>
          <p:cNvPr id="6" name="TextBox 5"/>
          <p:cNvSpPr txBox="1"/>
          <p:nvPr/>
        </p:nvSpPr>
        <p:spPr>
          <a:xfrm>
            <a:off x="609600" y="1841500"/>
            <a:ext cx="10795000" cy="609600"/>
          </a:xfrm>
          <a:prstGeom prst="rect">
            <a:avLst/>
          </a:prstGeom>
          <a:noFill/>
        </p:spPr>
        <p:txBody>
          <a:bodyPr wrap="none" lIns="0" rIns="0" tIns="0" bIns="0">
            <a:spAutoFit/>
          </a:bodyPr>
          <a:lstStyle/>
          <a:p>
            <a:pPr>
              <a:lnSpc>
                <a:spcPts val="2091"/>
              </a:lnSpc>
              <a:spcBef>
                <a:spcPts val="0"/>
              </a:spcBef>
              <a:spcAft>
                <a:spcPts val="0"/>
              </a:spcAft>
              <a:defRPr sz="1700" b="0">
                <a:solidFill>
                  <a:srgbClr val="745F54"/>
                </a:solidFill>
                <a:latin typeface="Arial"/>
              </a:defRPr>
            </a:pPr>
            <a:r>
              <a:t>The spreadsheet can be repaired without a victory lap.</a:t>
            </a:r>
          </a:p>
        </p:txBody>
      </p:sp>
      <p:sp>
        <p:nvSpPr>
          <p:cNvPr id="7" name="Rectangle 6"/>
          <p:cNvSpPr/>
          <p:nvPr/>
        </p:nvSpPr>
        <p:spPr>
          <a:xfrm>
            <a:off x="609600" y="269240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3600" y="260350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Cash timing, payroll accounting and modeled PV answer different questions.</a:t>
            </a:r>
          </a:p>
        </p:txBody>
      </p:sp>
      <p:sp>
        <p:nvSpPr>
          <p:cNvPr id="9" name="Rectangle 8"/>
          <p:cNvSpPr/>
          <p:nvPr/>
        </p:nvSpPr>
        <p:spPr>
          <a:xfrm>
            <a:off x="609600" y="349567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3600" y="340677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An announced sponsorship does not disclose its price or incremental profit.</a:t>
            </a:r>
          </a:p>
        </p:txBody>
      </p:sp>
      <p:sp>
        <p:nvSpPr>
          <p:cNvPr id="11" name="Rectangle 10"/>
          <p:cNvSpPr/>
          <p:nvPr/>
        </p:nvSpPr>
        <p:spPr>
          <a:xfrm>
            <a:off x="609600" y="4298950"/>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3600" y="4210050"/>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No real ledger error or personnel misconduct has been established.</a:t>
            </a:r>
          </a:p>
        </p:txBody>
      </p:sp>
      <p:sp>
        <p:nvSpPr>
          <p:cNvPr id="13" name="Rectangle 12"/>
          <p:cNvSpPr/>
          <p:nvPr/>
        </p:nvSpPr>
        <p:spPr>
          <a:xfrm>
            <a:off x="609600" y="5102225"/>
            <a:ext cx="63500" cy="635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3600" y="5013325"/>
            <a:ext cx="10541000" cy="574675"/>
          </a:xfrm>
          <a:prstGeom prst="rect">
            <a:avLst/>
          </a:prstGeom>
          <a:noFill/>
        </p:spPr>
        <p:txBody>
          <a:bodyPr wrap="none" lIns="0" rIns="0" tIns="0" bIns="0">
            <a:spAutoFit/>
          </a:bodyPr>
          <a:lstStyle/>
          <a:p>
            <a:pPr>
              <a:lnSpc>
                <a:spcPts val="2583"/>
              </a:lnSpc>
              <a:spcBef>
                <a:spcPts val="0"/>
              </a:spcBef>
              <a:spcAft>
                <a:spcPts val="0"/>
              </a:spcAft>
              <a:defRPr sz="2100" b="0">
                <a:solidFill>
                  <a:srgbClr val="302825"/>
                </a:solidFill>
                <a:latin typeface="Arial"/>
              </a:defRPr>
            </a:pPr>
            <a:r>
              <a:t>All Greg and Fred dialogue, actions and workplace incidents are invented.</a:t>
            </a:r>
          </a:p>
        </p:txBody>
      </p:sp>
      <p:sp>
        <p:nvSpPr>
          <p:cNvPr id="15" name="TextBox 14"/>
          <p:cNvSpPr txBox="1"/>
          <p:nvPr/>
        </p:nvSpPr>
        <p:spPr>
          <a:xfrm>
            <a:off x="609600" y="6070600"/>
            <a:ext cx="10642600" cy="3683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rPr>
                <a:hlinkClick r:id="rId2"/>
              </a:rPr>
              <a:t>[FRED_MODEL] finance.json</a:t>
            </a:r>
          </a:p>
        </p:txBody>
      </p:sp>
      <p:cxnSp>
        <p:nvCxnSpPr>
          <p:cNvPr id="16" name="Connector 15"/>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8" name="TextBox 17"/>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09 /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F4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31800"/>
            <a:ext cx="482600" cy="50800"/>
          </a:xfrm>
          <a:prstGeom prst="rect">
            <a:avLst/>
          </a:prstGeom>
          <a:solidFill>
            <a:srgbClr val="B84A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44600" y="330200"/>
            <a:ext cx="9779000" cy="317500"/>
          </a:xfrm>
          <a:prstGeom prst="rect">
            <a:avLst/>
          </a:prstGeom>
          <a:noFill/>
        </p:spPr>
        <p:txBody>
          <a:bodyPr wrap="none" lIns="0" rIns="0" tIns="0" bIns="0">
            <a:spAutoFit/>
          </a:bodyPr>
          <a:lstStyle/>
          <a:p>
            <a:pPr>
              <a:lnSpc>
                <a:spcPts val="1230"/>
              </a:lnSpc>
              <a:spcBef>
                <a:spcPts val="0"/>
              </a:spcBef>
              <a:spcAft>
                <a:spcPts val="0"/>
              </a:spcAft>
              <a:defRPr sz="1000" b="1">
                <a:solidFill>
                  <a:srgbClr val="745F54"/>
                </a:solidFill>
                <a:latin typeface="Arial"/>
              </a:defRPr>
            </a:pPr>
            <a:r>
              <a:t>FICTIONAL SATIRE | NO ACTUAL EMPLOYEE ALLEGATIONS</a:t>
            </a:r>
          </a:p>
        </p:txBody>
      </p:sp>
      <p:sp>
        <p:nvSpPr>
          <p:cNvPr id="5" name="TextBox 4"/>
          <p:cNvSpPr txBox="1"/>
          <p:nvPr/>
        </p:nvSpPr>
        <p:spPr>
          <a:xfrm>
            <a:off x="609600" y="825500"/>
            <a:ext cx="10795000" cy="1054100"/>
          </a:xfrm>
          <a:prstGeom prst="rect">
            <a:avLst/>
          </a:prstGeom>
          <a:noFill/>
        </p:spPr>
        <p:txBody>
          <a:bodyPr wrap="none" lIns="0" rIns="0" tIns="0" bIns="0">
            <a:spAutoFit/>
          </a:bodyPr>
          <a:lstStyle/>
          <a:p>
            <a:pPr>
              <a:lnSpc>
                <a:spcPts val="3936"/>
              </a:lnSpc>
              <a:spcBef>
                <a:spcPts val="0"/>
              </a:spcBef>
              <a:spcAft>
                <a:spcPts val="0"/>
              </a:spcAft>
              <a:defRPr sz="3200" b="1">
                <a:solidFill>
                  <a:srgbClr val="302825"/>
                </a:solidFill>
                <a:latin typeface="Arial"/>
              </a:defRPr>
            </a:pPr>
            <a:r>
              <a:t>Sources and model limits</a:t>
            </a:r>
          </a:p>
        </p:txBody>
      </p:sp>
      <p:sp>
        <p:nvSpPr>
          <p:cNvPr id="6" name="TextBox 5"/>
          <p:cNvSpPr txBox="1"/>
          <p:nvPr/>
        </p:nvSpPr>
        <p:spPr>
          <a:xfrm>
            <a:off x="609600" y="1841500"/>
            <a:ext cx="10464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302825"/>
                </a:solidFill>
                <a:latin typeface="Arial"/>
              </a:defRPr>
            </a:pPr>
            <a:r>
              <a:rPr>
                <a:hlinkClick r:id="rId2"/>
              </a:rPr>
              <a:t>[MLB1] MLB: Ohtani contract deferrals explained</a:t>
            </a:r>
          </a:p>
        </p:txBody>
      </p:sp>
      <p:sp>
        <p:nvSpPr>
          <p:cNvPr id="7" name="TextBox 6"/>
          <p:cNvSpPr txBox="1"/>
          <p:nvPr/>
        </p:nvSpPr>
        <p:spPr>
          <a:xfrm>
            <a:off x="609600" y="2197100"/>
            <a:ext cx="10464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302825"/>
                </a:solidFill>
                <a:latin typeface="Arial"/>
              </a:defRPr>
            </a:pPr>
            <a:r>
              <a:rPr>
                <a:hlinkClick r:id="rId2"/>
              </a:rPr>
              <a:t>www.mlb.com | 2023-12-12</a:t>
            </a:r>
          </a:p>
        </p:txBody>
      </p:sp>
      <p:sp>
        <p:nvSpPr>
          <p:cNvPr id="8" name="TextBox 7"/>
          <p:cNvSpPr txBox="1"/>
          <p:nvPr/>
        </p:nvSpPr>
        <p:spPr>
          <a:xfrm>
            <a:off x="609600" y="2654300"/>
            <a:ext cx="10464800" cy="342900"/>
          </a:xfrm>
          <a:prstGeom prst="rect">
            <a:avLst/>
          </a:prstGeom>
          <a:noFill/>
        </p:spPr>
        <p:txBody>
          <a:bodyPr wrap="none" lIns="0" rIns="0" tIns="0" bIns="0">
            <a:spAutoFit/>
          </a:bodyPr>
          <a:lstStyle/>
          <a:p>
            <a:pPr>
              <a:lnSpc>
                <a:spcPts val="1476"/>
              </a:lnSpc>
              <a:spcBef>
                <a:spcPts val="0"/>
              </a:spcBef>
              <a:spcAft>
                <a:spcPts val="0"/>
              </a:spcAft>
              <a:defRPr sz="1200" b="1">
                <a:solidFill>
                  <a:srgbClr val="302825"/>
                </a:solidFill>
                <a:latin typeface="Arial"/>
              </a:defRPr>
            </a:pPr>
            <a:r>
              <a:rPr>
                <a:hlinkClick r:id="rId3"/>
              </a:rPr>
              <a:t>[FRED_MODEL] Fred Cedar: illustrative original-decision payment DCF</a:t>
            </a:r>
          </a:p>
        </p:txBody>
      </p:sp>
      <p:sp>
        <p:nvSpPr>
          <p:cNvPr id="9" name="TextBox 8"/>
          <p:cNvSpPr txBox="1"/>
          <p:nvPr/>
        </p:nvSpPr>
        <p:spPr>
          <a:xfrm>
            <a:off x="609600" y="3009900"/>
            <a:ext cx="10464800" cy="317500"/>
          </a:xfrm>
          <a:prstGeom prst="rect">
            <a:avLst/>
          </a:prstGeom>
          <a:noFill/>
        </p:spPr>
        <p:txBody>
          <a:bodyPr wrap="none" lIns="0" rIns="0" tIns="0" bIns="0">
            <a:spAutoFit/>
          </a:bodyPr>
          <a:lstStyle/>
          <a:p>
            <a:pPr>
              <a:lnSpc>
                <a:spcPts val="1107"/>
              </a:lnSpc>
              <a:spcBef>
                <a:spcPts val="0"/>
              </a:spcBef>
              <a:spcAft>
                <a:spcPts val="0"/>
              </a:spcAft>
              <a:defRPr sz="900" b="0">
                <a:solidFill>
                  <a:srgbClr val="302825"/>
                </a:solidFill>
                <a:latin typeface="Arial"/>
              </a:defRPr>
            </a:pPr>
            <a:r>
              <a:rPr>
                <a:hlinkClick r:id="rId3"/>
              </a:rPr>
              <a:t>finance.json | model valuation date 2023-12-31; prepared 2026-10-13</a:t>
            </a:r>
          </a:p>
        </p:txBody>
      </p:sp>
      <p:cxnSp>
        <p:nvCxnSpPr>
          <p:cNvPr id="10" name="Connector 9"/>
          <p:cNvCxnSpPr/>
          <p:nvPr/>
        </p:nvCxnSpPr>
        <p:spPr>
          <a:xfrm>
            <a:off x="609600" y="6515100"/>
            <a:ext cx="10795000" cy="0"/>
          </a:xfrm>
          <a:prstGeom prst="line">
            <a:avLst/>
          </a:prstGeom>
          <a:ln w="12700">
            <a:solidFill>
              <a:srgbClr val="F7DDC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6591300"/>
            <a:ext cx="101600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FICTIONAL SATIRE: Greg/Fred story and dialogue invented. Real contract examples are cited.</a:t>
            </a:r>
          </a:p>
        </p:txBody>
      </p:sp>
      <p:sp>
        <p:nvSpPr>
          <p:cNvPr id="12" name="TextBox 11"/>
          <p:cNvSpPr txBox="1"/>
          <p:nvPr/>
        </p:nvSpPr>
        <p:spPr>
          <a:xfrm>
            <a:off x="10795000" y="6591300"/>
            <a:ext cx="609600" cy="177800"/>
          </a:xfrm>
          <a:prstGeom prst="rect">
            <a:avLst/>
          </a:prstGeom>
          <a:noFill/>
        </p:spPr>
        <p:txBody>
          <a:bodyPr wrap="none" lIns="0" rIns="0" tIns="0" bIns="0">
            <a:spAutoFit/>
          </a:bodyPr>
          <a:lstStyle/>
          <a:p>
            <a:pPr>
              <a:lnSpc>
                <a:spcPts val="1107"/>
              </a:lnSpc>
              <a:spcBef>
                <a:spcPts val="0"/>
              </a:spcBef>
              <a:spcAft>
                <a:spcPts val="0"/>
              </a:spcAft>
              <a:defRPr sz="900" b="0">
                <a:solidFill>
                  <a:srgbClr val="745F54"/>
                </a:solidFill>
                <a:latin typeface="Arial"/>
              </a:defRPr>
            </a:pPr>
            <a:r>
              <a:t>10 / 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Greg versus Fred</dc:title>
  <dc:subject/>
  <dc:creator>ST-1 team</dc:creator>
  <cp:keywords/>
  <dc:description>generated using python-pptx</dc:description>
  <cp:lastModifiedBy>Steve Canny</cp:lastModifiedBy>
  <cp:revision>1</cp:revision>
  <dcterms:created xsi:type="dcterms:W3CDTF">2023-12-31T00:00:00Z</dcterms:created>
  <dcterms:modified xsi:type="dcterms:W3CDTF">2023-12-31T00:00:00Z</dcterms:modified>
  <cp:category/>
</cp:coreProperties>
</file>