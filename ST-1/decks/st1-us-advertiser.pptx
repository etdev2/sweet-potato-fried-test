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Ivory, navy and one muted gold accent. Product close-ups and paired everyday scenes. Calm, precise copy. No internal personnel humor.</a:t>
            </a:r>
          </a:p>
          <a:p/>
          <a:p>
            <a:r>
              <a:t>Slide copy:</a:t>
            </a:r>
          </a:p>
          <a:p>
            <a:r>
              <a:t>Proposed campaign for a fictional audio brand.</a:t>
            </a:r>
          </a:p>
          <a:p>
            <a:r>
              <a:t>One product moves between a morning call and an evening workout.</a:t>
            </a:r>
          </a:p>
          <a:p>
            <a:r>
              <a:t>Ohtani's participation is subject to athlete, brand and rights clearance.</a:t>
            </a:r>
          </a:p>
          <a:p>
            <a:r>
              <a:t>Customer relevance and incremental contribution determine whether we scale.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Slide copy:</a:t>
            </a:r>
          </a:p>
          <a:p>
            <a:r>
              <a:t>New Balance announced a 2024 Fort Worth pop-up for Ohtani's signature collection.</a:t>
            </a:r>
          </a:p>
          <a:p>
            <a:r>
              <a:t>The pop-up offered access 24 hours before the announced launch.</a:t>
            </a:r>
          </a:p>
          <a:p>
            <a:r>
              <a:t>Topps announced a global card agreement that includes U.S.-based products.</a:t>
            </a:r>
          </a:p>
          <a:p>
            <a:r>
              <a:t>These announcements disclose neither campaign profit nor available audio rights.</a:t>
            </a:r>
          </a:p>
          <a:p/>
          <a:p>
            <a:r>
              <a:t>Sources:</a:t>
            </a:r>
          </a:p>
          <a:p>
            <a:r>
              <a:t>[NB2024] New Balance: Ohtani signature collection and Texas pop-up announcement 2024-06-20 announcement body; 2024-06-21 page</a:t>
            </a:r>
          </a:p>
          <a:p>
            <a:r>
              <a:t>https://newbalance.newsmarket.com/athlete-and-sports-news/new-balance-and-shohei-ohtani-announce-the-superstar-s-first-signature-collection/s/87e77ac8-268c-44e7-a45e-c2f4887a0ab0</a:t>
            </a:r>
          </a:p>
          <a:p>
            <a:r>
              <a:t>Limit: June 2024 announcement of July launch and Texas pop-up; no results or fee.</a:t>
            </a:r>
          </a:p>
          <a:p>
            <a:r>
              <a:t>[TOPPS2024] Fanatics: Topps Ohtani global trading-card agreement 2024-08-29</a:t>
            </a:r>
          </a:p>
          <a:p>
            <a:r>
              <a:t>https://investor.fanatics.com/news/news-details/2024/Topps-and-Shohei-Ohtani-Sign-Exclusive-Long-Term-Global-Trading-Card-Deal-Features-Autograph-and-Game-Used-Memorabilia-Cards-2024-r9n8KUPtej/default.aspx</a:t>
            </a:r>
          </a:p>
          <a:p>
            <a:r>
              <a:t>Limit: August 29, 2024 global card agreement includes U.S. and Japan products; no disclosed compensation.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scopes and evidence statuses. Unknown does not mean zero.</a:t>
            </a:r>
          </a:p>
          <a:p/>
          <a:p>
            <a:r>
              <a:t>Slide copy:</a:t>
            </a:r>
          </a:p>
          <a:p>
            <a:r>
              <a:t>Forbes estimated $125m worldwide off-field earnings for May 2025 to May 2026.</a:t>
            </a:r>
          </a:p>
          <a:p>
            <a:r>
              <a:t>The estimate includes multiple commercial revenue types.</a:t>
            </a:r>
          </a:p>
          <a:p>
            <a:r>
              <a:t>Checked releases provide no U.S.-allocated earnings amount.</a:t>
            </a:r>
          </a:p>
          <a:p>
            <a:r>
              <a:t>Worldwide estimates and Japan audiences do not establish U.S. campaign reach.</a:t>
            </a:r>
          </a:p>
          <a:p/>
          <a:p>
            <a:r>
              <a:t>Sources:</a:t>
            </a:r>
          </a:p>
          <a:p>
            <a:r>
              <a:t>[FORBES2026] Forbes: The world’s highest-paid athletes, 2026 2026-05-23</a:t>
            </a:r>
          </a:p>
          <a:p>
            <a:r>
              <a:t>https://www.forbes.com.au/news/sport/the-worlds-10-highest-paid-athletes-2026/</a:t>
            </a:r>
          </a:p>
          <a:p>
            <a:r>
              <a:t>Limit: Worldwide estimate, May 1, 2025 to May 1, 2026; multiple off-field revenue types; no U.S.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Slide copy:</a:t>
            </a:r>
          </a:p>
          <a:p>
            <a:r>
              <a:t>Proposed audience: U.S. adults considering audio for work and exercise.</a:t>
            </a:r>
          </a:p>
          <a:p>
            <a:r>
              <a:t>Verify call clarity and secure fit before making product claims.</a:t>
            </a:r>
          </a:p>
          <a:p>
            <a:r>
              <a:t>Test whether viewers understand both uses and remember the brand.</a:t>
            </a:r>
          </a:p>
          <a:p>
            <a:r>
              <a:t>Measure spokesperson credibility separately from celebrity recognition.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execution. No claim of approved athlete participation, product performance or asset rights.</a:t>
            </a:r>
          </a:p>
          <a:p/>
          <a:p>
            <a:r>
              <a:t>Slide copy:</a:t>
            </a:r>
          </a:p>
          <a:p>
            <a:r>
              <a:t>0–10 seconds: an approved morning video-call scene demonstrates the microphone.</a:t>
            </a:r>
          </a:p>
          <a:p>
            <a:r>
              <a:t>10–22 seconds: match cut to an approved workout scene demonstrates fit.</a:t>
            </a:r>
          </a:p>
          <a:p>
            <a:r>
              <a:t>22–30 seconds: product close-up, 'Two modes. One standard,' and one purchase prompt.</a:t>
            </a:r>
          </a:p>
          <a:p>
            <a:r>
              <a:t>Prepare six- and fifteen-second cuts from the same approved shoot.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Slide copy:</a:t>
            </a:r>
          </a:p>
          <a:p>
            <a:r>
              <a:t>Compare product-only, Ohtani-led and another spokesperson's ads.</a:t>
            </a:r>
          </a:p>
          <a:p>
            <a:r>
              <a:t>Use comparable U.S. prospective buyers, exposure and media conditions.</a:t>
            </a:r>
          </a:p>
          <a:p>
            <a:r>
              <a:t>Primary creative measures: product-benefit comprehension and brand recall.</a:t>
            </a:r>
          </a:p>
          <a:p>
            <a:r>
              <a:t>Pre-agree thresholds, sample size and cost limits before reviewing results.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Slide copy:</a:t>
            </a:r>
          </a:p>
          <a:p>
            <a:r>
              <a:t>Invented rights fee: $3m for a one-year U.S. campaign.</a:t>
            </a:r>
          </a:p>
          <a:p>
            <a:r>
              <a:t>Invented media, creative and activation cost: $2m.</a:t>
            </a:r>
          </a:p>
          <a:p>
            <a:r>
              <a:t>Total hypothetical campaign cost: $5m.</a:t>
            </a:r>
          </a:p>
          <a:p>
            <a:r>
              <a:t>These are teaching assumptions, not Ohtani's rate, a quote or an approved budget.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Invented $5m cost scenario. Assumed margins; no forecast or guaranteed return. Full explanatory copy: Breakeven incremental net sales = $5m campaign cost ÷ 25% contribution margin. Subtract product, fulfillment, returns and other variable costs in the margin. Estimate incremental U.S. sales with a randomized holdout or justified geographic comparison. Recorded sales and impressions alone cannot establish campaign return.</a:t>
            </a:r>
          </a:p>
          <a:p/>
          <a:p>
            <a:r>
              <a:t>Slide copy:</a:t>
            </a:r>
          </a:p>
          <a:p>
            <a:r>
              <a:t>Invented $5m campaign cost. At 25% contribution margin, breakeven requires $20m incremental U.S. net sales.</a:t>
            </a:r>
          </a:p>
          <a:p>
            <a:r>
              <a:t>Estimate incrementality using a holdout. Subtract variable costs in margin; results are neither forecasts nor guaranteed returns.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Slide copy:</a:t>
            </a:r>
          </a:p>
          <a:p>
            <a:r>
              <a:t>Verify category, U.S. territory, term, channels and existing exclusivity.</a:t>
            </a:r>
          </a:p>
          <a:p>
            <a:r>
              <a:t>Clear athlete approval, product claims and any club or league assets.</a:t>
            </a:r>
          </a:p>
          <a:p>
            <a:r>
              <a:t>Use audience and contribution evidence to decide spending.</a:t>
            </a:r>
          </a:p>
          <a:p>
            <a:r>
              <a:t>Reconcile repeat purchase, cannibalization and spillover within a defined horizon.</a:t>
            </a:r>
          </a:p>
          <a:p/>
          <a:p>
            <a:r>
              <a:t>Sources: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source with its date, recipient, measurement period and disclosure limits. Announcements establish agreements, not current unchanged terms, fees or incremental return.</a:t>
            </a:r>
          </a:p>
          <a:p/>
          <a:p>
            <a:r>
              <a:t>Slide copy:</a:t>
            </a:r>
          </a:p>
          <a:p/>
          <a:p/>
          <a:p>
            <a:r>
              <a:t>Sources:</a:t>
            </a:r>
          </a:p>
          <a:p>
            <a:r>
              <a:t>[NB2024] New Balance: Ohtani signature collection and Texas pop-up announcement 2024-06-20 announcement body; 2024-06-21 page</a:t>
            </a:r>
          </a:p>
          <a:p>
            <a:r>
              <a:t>https://newbalance.newsmarket.com/athlete-and-sports-news/new-balance-and-shohei-ohtani-announce-the-superstar-s-first-signature-collection/s/87e77ac8-268c-44e7-a45e-c2f4887a0ab0</a:t>
            </a:r>
          </a:p>
          <a:p>
            <a:r>
              <a:t>Limit: June 2024 announcement of July launch and Texas pop-up; no results or fee.</a:t>
            </a:r>
          </a:p>
          <a:p>
            <a:r>
              <a:t>[TOPPS2024] Fanatics: Topps Ohtani global trading-card agreement 2024-08-29</a:t>
            </a:r>
          </a:p>
          <a:p>
            <a:r>
              <a:t>https://investor.fanatics.com/news/news-details/2024/Topps-and-Shohei-Ohtani-Sign-Exclusive-Long-Term-Global-Trading-Card-Deal-Features-Autograph-and-Game-Used-Memorabilia-Cards-2024-r9n8KUPtej/default.aspx</a:t>
            </a:r>
          </a:p>
          <a:p>
            <a:r>
              <a:t>Limit: August 29, 2024 global card agreement includes U.S. and Japan products; no disclosed compensation.</a:t>
            </a:r>
          </a:p>
          <a:p>
            <a:r>
              <a:t>[FORBES2026] Forbes: The world’s highest-paid athletes, 2026 2026-05-23</a:t>
            </a:r>
          </a:p>
          <a:p>
            <a:r>
              <a:t>https://www.forbes.com.au/news/sport/the-worlds-10-highest-paid-athletes-2026/</a:t>
            </a:r>
          </a:p>
          <a:p>
            <a:r>
              <a:t>Limit: Worldwide estimate, May 1, 2025 to May 1, 2026; multiple off-field revenue types; no U.S.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balance.newsmarket.com/athlete-and-sports-news/new-balance-and-shohei-ohtani-announce-the-superstar-s-first-signature-collection/s/87e77ac8-268c-44e7-a45e-c2f4887a0ab0" TargetMode="External"/><Relationship Id="rId3" Type="http://schemas.openxmlformats.org/officeDocument/2006/relationships/hyperlink" Target="https://investor.fanatics.com/news/news-details/2024/Topps-and-Shohei-Ohtani-Sign-Exclusive-Long-Term-Global-Trading-Card-Deal-Features-Autograph-and-Game-Used-Memorabilia-Cards-2024-r9n8KUPtej/default.aspx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orbes.com.au/news/sport/the-worlds-10-highest-paid-athletes-2026/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ewbalance.newsmarket.com/athlete-and-sports-news/new-balance-and-shohei-ohtani-announce-the-superstar-s-first-signature-collection/s/87e77ac8-268c-44e7-a45e-c2f4887a0ab0" TargetMode="External"/><Relationship Id="rId3" Type="http://schemas.openxmlformats.org/officeDocument/2006/relationships/hyperlink" Target="https://investor.fanatics.com/news/news-details/2024/Topps-and-Shohei-Ohtani-Sign-Exclusive-Long-Term-Global-Trading-Card-Deal-Features-Autograph-and-Game-Used-Memorabilia-Cards-2024-r9n8KUPtej/default.aspx" TargetMode="External"/><Relationship Id="rId4" Type="http://schemas.openxmlformats.org/officeDocument/2006/relationships/hyperlink" Target="https://www.forbes.com.au/news/sport/the-worlds-10-highest-paid-athletes-2026/" TargetMode="Externa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U.S. advertiser proposal | Switch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Two modes. One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603500"/>
            <a:ext cx="10795000" cy="3302000"/>
          </a:xfrm>
          <a:prstGeom prst="roundRect">
            <a:avLst>
              <a:gd name="adj" fmla="val 12000"/>
            </a:avLst>
          </a:prstGeom>
          <a:solidFill>
            <a:srgbClr val="17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2882900"/>
            <a:ext cx="10033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67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A proposed U.S. campaign for fictional Switch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4064000"/>
            <a:ext cx="10033000" cy="15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Proposed campaign for a fictional audio brand.</a:t>
            </a:r>
          </a:p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One product moves between a morning call and an evening workout.</a:t>
            </a:r>
          </a:p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Ohtani's participation is subject to athlete, brand and rights clearance.</a:t>
            </a:r>
          </a:p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Customer relevance and incremental contribution determine whether we scale.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U.S. activation | start with something documented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Personal partnerships have supported concrete U.S. activity.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240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60350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New Balance announced a 2024 Fort Worth pop-up for Ohtani's signature collection.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49567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340677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The pop-up offered access 24 hours before the announced launch.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29895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421005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Topps announced a global card agreement that includes U.S.-based products.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510222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501332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These announcements disclose neither campaign profit nor available audio rights.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70600"/>
            <a:ext cx="52451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rPr>
                <a:hlinkClick r:id="rId2"/>
              </a:rPr>
              <a:t>[NB2024] newbalance.newsmarket.com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100" y="6070600"/>
            <a:ext cx="52451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rPr>
                <a:hlinkClick r:id="rId3"/>
              </a:rPr>
              <a:t>[TOPPS2024] investor.fanatics.com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Commercial scope | avoid a false U.S.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U.S.-only athlete earnings remain unknown.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03500"/>
            <a:ext cx="10795000" cy="635000"/>
          </a:xfrm>
          <a:prstGeom prst="rect">
            <a:avLst/>
          </a:prstGeom>
          <a:solidFill>
            <a:srgbClr val="17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730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9500" y="2730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Evidence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238500"/>
            <a:ext cx="1079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3365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65E"/>
                </a:solidFill>
                <a:latin typeface="Arial"/>
              </a:defRPr>
            </a:pPr>
            <a:r>
              <a:t>Worldwide off-field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500" y="3365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65E"/>
                </a:solidFill>
                <a:latin typeface="Arial"/>
              </a:defRPr>
            </a:pPr>
            <a:r>
              <a:t>$125m; named period and estimator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873500"/>
            <a:ext cx="10795000" cy="635000"/>
          </a:xfrm>
          <a:prstGeom prst="rect">
            <a:avLst/>
          </a:prstGeom>
          <a:solidFill>
            <a:srgbClr val="E7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000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65E"/>
                </a:solidFill>
                <a:latin typeface="Arial"/>
              </a:defRPr>
            </a:pPr>
            <a:r>
              <a:t>U.S.-only athlete earnings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9500" y="4000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65E"/>
                </a:solidFill>
                <a:latin typeface="Arial"/>
              </a:defRPr>
            </a:pPr>
            <a:r>
              <a:t>Unknown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508500"/>
            <a:ext cx="10795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4635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65E"/>
                </a:solidFill>
                <a:latin typeface="Arial"/>
              </a:defRPr>
            </a:pPr>
            <a:r>
              <a:t>Proposed campaign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9500" y="4635500"/>
            <a:ext cx="50927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65E"/>
                </a:solidFill>
                <a:latin typeface="Arial"/>
              </a:defRPr>
            </a:pPr>
            <a:r>
              <a:t>Unmeasured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070600"/>
            <a:ext cx="106426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rPr>
                <a:hlinkClick r:id="rId2"/>
              </a:rPr>
              <a:t>[FORBES2026] www.forbes.com.au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Buyer and product | test the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Can one pair earn both everyday jobs?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240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60350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Proposed audience: U.S. adults considering audio for work and exercise.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49567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340677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Verify call clarity and secure fit before making product claims.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29895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421005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Test whether viewers understand both uses and remember the brand.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510222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501332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Measure spokesperson credibility separately from celebrity recognition.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One film | thirty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The product stays in frame when the setting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603500"/>
            <a:ext cx="2508250" cy="203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603500"/>
            <a:ext cx="250825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2806700"/>
            <a:ext cx="210185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PROPOSED SCENE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403600"/>
            <a:ext cx="2101850" cy="78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4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9E0"/>
                </a:solidFill>
                <a:latin typeface="Arial"/>
              </a:defRPr>
            </a:pPr>
            <a:r>
              <a:t>Morning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229100"/>
            <a:ext cx="21018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65E"/>
                </a:solidFill>
                <a:latin typeface="Arial"/>
              </a:defRPr>
            </a:pPr>
            <a:r>
              <a:t>microphone demonstration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1850" y="2603500"/>
            <a:ext cx="2508250" cy="203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1850" y="2603500"/>
            <a:ext cx="250825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050" y="2806700"/>
            <a:ext cx="210185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PROPOSED SCENE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050" y="3403600"/>
            <a:ext cx="2101850" cy="78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4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9E0"/>
                </a:solidFill>
                <a:latin typeface="Arial"/>
              </a:defRPr>
            </a:pPr>
            <a:r>
              <a:t>Match cut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050" y="4229100"/>
            <a:ext cx="21018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65E"/>
                </a:solidFill>
                <a:latin typeface="Arial"/>
              </a:defRPr>
            </a:pPr>
            <a:r>
              <a:t>same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4100" y="2603500"/>
            <a:ext cx="2508250" cy="203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4100" y="2603500"/>
            <a:ext cx="250825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7300" y="2806700"/>
            <a:ext cx="210185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PROPOSED SCENE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7300" y="3403600"/>
            <a:ext cx="2101850" cy="78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4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9E0"/>
                </a:solidFill>
                <a:latin typeface="Arial"/>
              </a:defRPr>
            </a:pPr>
            <a:r>
              <a:t>Workout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7300" y="4229100"/>
            <a:ext cx="21018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65E"/>
                </a:solidFill>
                <a:latin typeface="Arial"/>
              </a:defRPr>
            </a:pPr>
            <a:r>
              <a:t>fit demonstration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6350" y="2603500"/>
            <a:ext cx="2508250" cy="203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2603500"/>
            <a:ext cx="250825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9550" y="2806700"/>
            <a:ext cx="210185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PROPOSED SCENE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9550" y="3403600"/>
            <a:ext cx="2101850" cy="78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4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459E0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9550" y="4229100"/>
            <a:ext cx="21018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65E"/>
                </a:solidFill>
                <a:latin typeface="Arial"/>
              </a:defRPr>
            </a:pPr>
            <a:r>
              <a:t>campaign line / purchase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800600"/>
            <a:ext cx="10795000" cy="78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66079"/>
                </a:solidFill>
                <a:latin typeface="Arial"/>
              </a:defRPr>
            </a:pPr>
            <a:r>
              <a:t>Prepare six- and fifteen-second cuts from the same approved shoot.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Creative test | agree the standard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Recognition is the first question, not the final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240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60350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Compare product-only, Ohtani-led and another spokesperson's 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49567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340677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Use comparable U.S. prospective buyers, exposure and media 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29895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421005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Primary creative measures: product-benefit comprehension and brand recall.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510222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501332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Pre-agree thresholds, sample size and cost limits before reviewing results.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Sample budget | explicitly invented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A $5m scenario makes the commercial hurdle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240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603500"/>
            <a:ext cx="10541000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Invented rights fee: $3m for a one-year U.S. campaign.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27342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3184525"/>
            <a:ext cx="10541000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Invented media, creative and activation cost: $2m.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85445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3765550"/>
            <a:ext cx="10541000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Total hypothetical campaign cost: $5m.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43547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4346575"/>
            <a:ext cx="10541000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These are teaching assumptions, not Ohtani's rate, a quote or an approved budget.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143500"/>
            <a:ext cx="10795000" cy="762000"/>
          </a:xfrm>
          <a:prstGeom prst="roundRect">
            <a:avLst>
              <a:gd name="adj" fmla="val 12000"/>
            </a:avLst>
          </a:prstGeom>
          <a:solidFill>
            <a:srgbClr val="E7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295900"/>
            <a:ext cx="103378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65E"/>
                </a:solidFill>
                <a:latin typeface="Arial"/>
              </a:defRPr>
            </a:pPr>
            <a:r>
              <a:t>Invented teaching scenario. Not a quote, forecast or guaranteed return.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Incrementality | contribution pays campaign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At a 25% margin, the scenario needs $20m extra net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03500"/>
            <a:ext cx="6731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65E"/>
                </a:solidFill>
                <a:latin typeface="Arial"/>
              </a:defRPr>
            </a:pPr>
            <a:r>
              <a:t>Hypothetical breakeven incremental U.S. net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59100"/>
            <a:ext cx="6731000" cy="215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66079"/>
                </a:solidFill>
                <a:latin typeface="Arial"/>
              </a:defRPr>
            </a:pPr>
            <a:r>
              <a:t>USD millions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68400" y="4660900"/>
            <a:ext cx="6007100" cy="0"/>
          </a:xfrm>
          <a:prstGeom prst="line">
            <a:avLst/>
          </a:prstGeom>
          <a:ln w="7620">
            <a:solidFill>
              <a:srgbClr val="DC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600" y="4584700"/>
            <a:ext cx="482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68400" y="4250266"/>
            <a:ext cx="6007100" cy="0"/>
          </a:xfrm>
          <a:prstGeom prst="line">
            <a:avLst/>
          </a:prstGeom>
          <a:ln w="7620">
            <a:solidFill>
              <a:srgbClr val="DC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4174066"/>
            <a:ext cx="482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68400" y="3839633"/>
            <a:ext cx="6007100" cy="0"/>
          </a:xfrm>
          <a:prstGeom prst="line">
            <a:avLst/>
          </a:prstGeom>
          <a:ln w="7620">
            <a:solidFill>
              <a:srgbClr val="DC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9600" y="3763433"/>
            <a:ext cx="482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8400" y="3429000"/>
            <a:ext cx="6007100" cy="0"/>
          </a:xfrm>
          <a:prstGeom prst="line">
            <a:avLst/>
          </a:prstGeom>
          <a:ln w="7620">
            <a:solidFill>
              <a:srgbClr val="DC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3352800"/>
            <a:ext cx="482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30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8400" y="4660900"/>
            <a:ext cx="6007100" cy="0"/>
          </a:xfrm>
          <a:prstGeom prst="line">
            <a:avLst/>
          </a:prstGeom>
          <a:ln w="12700">
            <a:solidFill>
              <a:srgbClr val="566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528826" y="3634316"/>
            <a:ext cx="1178993" cy="1026583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8636" y="3405716"/>
            <a:ext cx="1601893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265E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31192" y="3839633"/>
            <a:ext cx="1178993" cy="821266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1003" y="3611033"/>
            <a:ext cx="1601893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265E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3559" y="4147608"/>
            <a:ext cx="1178993" cy="513291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3370" y="3919008"/>
            <a:ext cx="1601893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265E"/>
                </a:solidFill>
                <a:latin typeface="Arial"/>
              </a:defRPr>
            </a:pPr>
            <a:r>
              <a:t>12.5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8400" y="4775200"/>
            <a:ext cx="1902248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65E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0766" y="4775200"/>
            <a:ext cx="1902248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65E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3133" y="4775200"/>
            <a:ext cx="1902248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65E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47000" y="284480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755900"/>
            <a:ext cx="3365500" cy="1123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65E"/>
                </a:solidFill>
                <a:latin typeface="Arial"/>
              </a:defRPr>
            </a:pPr>
            <a:r>
              <a:t>Invented $5m campaign cost. At</a:t>
            </a:r>
          </a:p>
          <a:p>
            <a:pPr>
              <a:lnSpc>
                <a:spcPts val="221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65E"/>
                </a:solidFill>
                <a:latin typeface="Arial"/>
              </a:defRPr>
            </a:pPr>
            <a:r>
              <a:t>25% contribution margin,</a:t>
            </a:r>
          </a:p>
          <a:p>
            <a:pPr>
              <a:lnSpc>
                <a:spcPts val="221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65E"/>
                </a:solidFill>
                <a:latin typeface="Arial"/>
              </a:defRPr>
            </a:pPr>
            <a:r>
              <a:t>breakeven requires $20m</a:t>
            </a:r>
          </a:p>
          <a:p>
            <a:pPr>
              <a:lnSpc>
                <a:spcPts val="221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65E"/>
                </a:solidFill>
                <a:latin typeface="Arial"/>
              </a:defRPr>
            </a:pPr>
            <a:r>
              <a:t>incremental U.S. net sales.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7000" y="419735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4108450"/>
            <a:ext cx="3365500" cy="1123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52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7265E"/>
                </a:solidFill>
                <a:latin typeface="Arial"/>
              </a:defRPr>
            </a:pPr>
            <a:r>
              <a:t>Estimate incrementality using a</a:t>
            </a:r>
          </a:p>
          <a:p>
            <a:pPr>
              <a:lnSpc>
                <a:spcPts val="2152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7265E"/>
                </a:solidFill>
                <a:latin typeface="Arial"/>
              </a:defRPr>
            </a:pPr>
            <a:r>
              <a:t>holdout. Subtract variable costs in</a:t>
            </a:r>
          </a:p>
          <a:p>
            <a:pPr>
              <a:lnSpc>
                <a:spcPts val="2152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7265E"/>
                </a:solidFill>
                <a:latin typeface="Arial"/>
              </a:defRPr>
            </a:pPr>
            <a:r>
              <a:t>margin; results are neither</a:t>
            </a:r>
          </a:p>
          <a:p>
            <a:pPr>
              <a:lnSpc>
                <a:spcPts val="2152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7265E"/>
                </a:solidFill>
                <a:latin typeface="Arial"/>
              </a:defRPr>
            </a:pPr>
            <a:r>
              <a:t>forecasts nor guaranteed returns.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5588000"/>
            <a:ext cx="10795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66079"/>
                </a:solidFill>
                <a:latin typeface="Arial"/>
              </a:defRPr>
            </a:pPr>
            <a:r>
              <a:t>Invented $5m total campaign cost. Contribution margins are assumptions.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U.S. ADVERTISER PROPOSAL | SUBJECT TO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Launch gates | clear the rights, then earn the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79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66079"/>
                </a:solidFill>
                <a:latin typeface="Arial"/>
              </a:defRPr>
            </a:pPr>
            <a:r>
              <a:t>Approve a test; make launch conditional.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69240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60350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Verify category, U.S. territory, term, channels and existing exclusivity.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49567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340677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Clear athlete approval, product claims and any club or league assets.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298950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4210050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Use audience and contribution evidence to decide spending.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5102225"/>
            <a:ext cx="63500" cy="635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5013325"/>
            <a:ext cx="10541000" cy="574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7265E"/>
                </a:solidFill>
                <a:latin typeface="Arial"/>
              </a:defRPr>
            </a:pPr>
            <a:r>
              <a:t>Reconcile repeat purchase, cannibalization and spillover within a defined horizon.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800"/>
            <a:ext cx="482600" cy="50800"/>
          </a:xfrm>
          <a:prstGeom prst="rect">
            <a:avLst/>
          </a:prstGeom>
          <a:solidFill>
            <a:srgbClr val="245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30200"/>
            <a:ext cx="977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66079"/>
                </a:solidFill>
                <a:latin typeface="Arial"/>
              </a:defRPr>
            </a:pPr>
            <a:r>
              <a:t>EVIDENCE CUTOFF OCTOBER 13, 2026 | USD WHERE MONETARY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107950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36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65E"/>
                </a:solidFill>
                <a:latin typeface="Arial"/>
              </a:defRPr>
            </a:pPr>
            <a:r>
              <a:t>Sources and model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1500"/>
            <a:ext cx="1046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65E"/>
                </a:solidFill>
                <a:latin typeface="Arial"/>
              </a:defRPr>
            </a:pPr>
            <a:r>
              <a:rPr>
                <a:hlinkClick r:id="rId2"/>
              </a:rPr>
              <a:t>[NB2024] New Balance: Ohtani signature collection and Texas pop-up announcement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00"/>
            <a:ext cx="104648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65E"/>
                </a:solidFill>
                <a:latin typeface="Arial"/>
              </a:defRPr>
            </a:pPr>
            <a:r>
              <a:rPr>
                <a:hlinkClick r:id="rId2"/>
              </a:rPr>
              <a:t>newbalance.newsmarket.com | 2024-06-20 announcement body; 2024-06-21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54300"/>
            <a:ext cx="1046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65E"/>
                </a:solidFill>
                <a:latin typeface="Arial"/>
              </a:defRPr>
            </a:pPr>
            <a:r>
              <a:rPr>
                <a:hlinkClick r:id="rId3"/>
              </a:rPr>
              <a:t>[TOPPS2024] Fanatics: Topps Ohtani global trading-card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09900"/>
            <a:ext cx="104648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65E"/>
                </a:solidFill>
                <a:latin typeface="Arial"/>
              </a:defRPr>
            </a:pPr>
            <a:r>
              <a:rPr>
                <a:hlinkClick r:id="rId3"/>
              </a:rPr>
              <a:t>investor.fanatics.com | 2024-08-29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67100"/>
            <a:ext cx="1046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65E"/>
                </a:solidFill>
                <a:latin typeface="Arial"/>
              </a:defRPr>
            </a:pPr>
            <a:r>
              <a:rPr>
                <a:hlinkClick r:id="rId4"/>
              </a:rPr>
              <a:t>[FORBES2026] Forbes: The world's highest-paid athletes,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822700"/>
            <a:ext cx="104648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65E"/>
                </a:solidFill>
                <a:latin typeface="Arial"/>
              </a:defRPr>
            </a:pPr>
            <a:r>
              <a:rPr>
                <a:hlinkClick r:id="rId4"/>
              </a:rPr>
              <a:t>www.forbes.com.au | 2026-05-23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" y="6515100"/>
            <a:ext cx="10795000" cy="0"/>
          </a:xfrm>
          <a:prstGeom prst="line">
            <a:avLst/>
          </a:prstGeom>
          <a:ln w="12700">
            <a:solidFill>
              <a:srgbClr val="E7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6591300"/>
            <a:ext cx="101600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PROPOSED CAMPAIGN | rights and category clearance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0" y="6591300"/>
            <a:ext cx="609600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079"/>
                </a:solidFill>
                <a:latin typeface="Arial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modes. One standard.</dc:title>
  <dc:subject/>
  <dc:creator>ST-1 team</dc:creator>
  <cp:keywords/>
  <dc:description>generated using python-pptx</dc:description>
  <cp:lastModifiedBy>Steve Canny</cp:lastModifiedBy>
  <cp:revision>1</cp:revision>
  <dcterms:created xsi:type="dcterms:W3CDTF">2023-12-31T00:00:00Z</dcterms:created>
  <dcterms:modified xsi:type="dcterms:W3CDTF">2023-12-31T00:00:00Z</dcterms:modified>
  <cp:category/>
</cp:coreProperties>
</file>