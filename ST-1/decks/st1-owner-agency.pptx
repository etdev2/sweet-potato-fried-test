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Ivory background, dark navy type, teal owner accent; ample space; direct copy; no personnel humor.</a:t>
            </a:r>
          </a:p>
          <a:p/>
          <a:p>
            <a:r>
              <a:t>Slide copy:</a:t>
            </a:r>
          </a:p>
          <a:p>
            <a:r>
              <a:t>Assess the Dodgers salary commitment against an alternative roster.</a:t>
            </a:r>
          </a:p>
          <a:p>
            <a:r>
              <a:t>Combine baseball contribution with attributable club commercial contribution.</a:t>
            </a:r>
          </a:p>
          <a:p>
            <a:r>
              <a:t>Evidence cutoff: October 13, 2026. Original-decision DCF: December 31, 2023.</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Slide copy:</a:t>
            </a:r>
          </a:p>
          <a:p>
            <a:r>
              <a:t>2024 regular season: 54 home runs, 59 steals, 1.036 OPS.</a:t>
            </a:r>
          </a:p>
          <a:p>
            <a:r>
              <a:t>2025 regular season: 55 home runs, 1.014 OPS; 47 pitching innings.</a:t>
            </a:r>
          </a:p>
          <a:p>
            <a:r>
              <a:t>Unanimous NL MVP in 2024 and 2025.</a:t>
            </a:r>
          </a:p>
          <a:p>
            <a:r>
              <a:t>Output supports the sporting case; it does not calculate club profit.</a:t>
            </a:r>
          </a:p>
          <a:p/>
          <a:p>
            <a:r>
              <a:t>Sources:</a:t>
            </a:r>
          </a:p>
          <a:p>
            <a:r>
              <a:t>[SAVANT] MLB Baseball Savant: Shohei Ohtani regular-season statistics retrieved 2026-10-13</a:t>
            </a:r>
          </a:p>
          <a:p>
            <a:r>
              <a:t>https://baseballsavant.mlb.com/savant-player/shohei-ohtani-660271</a:t>
            </a:r>
          </a:p>
          <a:p>
            <a:r>
              <a:t>Limit: Regular-season statistics retrieved October 13, 2026; dynamic source.</a:t>
            </a:r>
          </a:p>
          <a:p>
            <a:r>
              <a:t>[MVP24] BBWAA: 2024 National League MVP result 2024-11-21</a:t>
            </a:r>
          </a:p>
          <a:p>
            <a:r>
              <a:t>https://bbwaa.com/24-nl-mvp/</a:t>
            </a:r>
          </a:p>
          <a:p>
            <a:r>
              <a:t>Limit: Primary source; use the stated period and scope.</a:t>
            </a:r>
          </a:p>
          <a:p>
            <a:r>
              <a:t>[MVP25] BBWAA: 2025 National League MVP result 2025-11-13</a:t>
            </a:r>
          </a:p>
          <a:p>
            <a:r>
              <a:t>https://bbwaa.com/25-nl-mvp/</a:t>
            </a:r>
          </a:p>
          <a:p>
            <a:r>
              <a:t>Limit: Primary source; use the stated period and scope.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Slide copy:</a:t>
            </a:r>
          </a:p>
          <a:p>
            <a:r>
              <a:t>ANA announced a multiyear Dodgers partnership in April 2024.</a:t>
            </a:r>
          </a:p>
          <a:p>
            <a:r>
              <a:t>UNIQLO announced a Dodgers partnership in March 2026.</a:t>
            </a:r>
          </a:p>
          <a:p>
            <a:r>
              <a:t>The announcements establish agreements, not fees or sole Ohtani causation.</a:t>
            </a:r>
          </a:p>
          <a:p>
            <a:r>
              <a:t>Player agreements and club agreements have different recipients.</a:t>
            </a:r>
          </a:p>
          <a:p/>
          <a:p>
            <a:r>
              <a:t>Sources:</a:t>
            </a:r>
          </a:p>
          <a:p>
            <a:r>
              <a:t>[ANA1] ANA: Dodgers partnership announcement 2024-04-02</a:t>
            </a:r>
          </a:p>
          <a:p>
            <a:r>
              <a:t>https://www.anahd.co.jp/group/en/pr/202404/20240402.html</a:t>
            </a:r>
          </a:p>
          <a:p>
            <a:r>
              <a:t>Limit: Club partnership announced April 2, 2024; fee and isolated player attribution undisclosed.</a:t>
            </a:r>
          </a:p>
          <a:p>
            <a:r>
              <a:t>[UNIQLO] Fast Retailing: UNIQLO Dodgers partnership announcement 2026-03-26</a:t>
            </a:r>
          </a:p>
          <a:p>
            <a:r>
              <a:t>https://www.fastretailing.com/eng/group/news/2603261000.html</a:t>
            </a:r>
          </a:p>
          <a:p>
            <a:r>
              <a:t>Limit: Club partnership announcement, March 26, 2026; no fee or Ohtani-specific causation.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Slide copy:</a:t>
            </a:r>
          </a:p>
          <a:p>
            <a:r>
              <a:t>Ohtani led MLBShop.com Nike jersey sales in the reported 2024 period.</a:t>
            </a:r>
          </a:p>
          <a:p>
            <a:r>
              <a:t>No purchaser geography, dollar proceeds or retained profit was disclosed.</a:t>
            </a:r>
          </a:p>
          <a:p>
            <a:r>
              <a:t>Forbes estimated $125m worldwide off-field earnings for May 2025 to May 2026.</a:t>
            </a:r>
          </a:p>
          <a:p>
            <a:r>
              <a:t>That estimate belongs to the athlete and is not U.S.-only or Dodgers income.</a:t>
            </a:r>
          </a:p>
          <a:p/>
          <a:p>
            <a:r>
              <a:t>Sources:</a:t>
            </a:r>
          </a:p>
          <a:p>
            <a:r>
              <a:t>[JERSEY2024] MLB/MLBPI: 2024 Ohtani Nike jersey-sales ranking 2024-09-30</a:t>
            </a:r>
          </a:p>
          <a:p>
            <a:r>
              <a:t>https://www.mlb.com/press-release/press-release-ohtani-heads-into-first-mlb-postseason-with-most-popular-player-jersey</a:t>
            </a:r>
          </a:p>
          <a:p>
            <a:r>
              <a:t>Limit: MLBShop.com Nike jersey ranking since Opening Day, announced September 30, 2024; no geography, revenue or retained profit.</a:t>
            </a:r>
          </a:p>
          <a:p>
            <a:r>
              <a:t>[FORBES2026] Forbes: The world’s highest-paid athletes, 2026 2026-05-23</a:t>
            </a:r>
          </a:p>
          <a:p>
            <a:r>
              <a:t>https://www.forbes.com.au/news/sport/the-worlds-10-highest-paid-athletes-2026/</a:t>
            </a:r>
          </a:p>
          <a:p>
            <a:r>
              <a:t>Limit: Worldwide estimate, May 1, 2025 to May 1, 2026; multiple off-field revenue types; no U.S. allocation.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Reported player-payment schedule. Does not show funding reserves or CBT tax. Full explanatory copy: Reported player payments: $2m annually in 2024-33. Reported deferred payments: $68m annually in 2034-43. Reported CBT payroll charge: approximately $46m annually. CBT payroll charge is a separate measure from the club's cash tax bill.</a:t>
            </a:r>
          </a:p>
          <a:p/>
          <a:p>
            <a:r>
              <a:t>Slide copy:</a:t>
            </a:r>
          </a:p>
          <a:p>
            <a:r>
              <a:t>Reported player payments: $2m annually in 2024–33; $68m annually in 2034–43. USD.</a:t>
            </a:r>
          </a:p>
          <a:p>
            <a:r>
              <a:t>Reported CBT payroll charge: approximately $46m annually. Funding reserves and CBT cash tax are separate.</a:t>
            </a:r>
          </a:p>
          <a:p>
            <a:r>
              <a:t>Illustrative calendar-year-end timing; 2024-2033 service, 2034-2043 deferred payments.</a:t>
            </a:r>
          </a:p>
          <a:p/>
          <a:p>
            <a:r>
              <a:t>Sources:</a:t>
            </a:r>
          </a:p>
          <a:p>
            <a:r>
              <a:t>[MLB1] MLB: Ohtani contract deferrals explained 2023-12-12</a:t>
            </a:r>
          </a:p>
          <a:p>
            <a:r>
              <a:t>https://www.mlb.com/news/shohei-ohtani-dodgers-deal-deferrals-explained</a:t>
            </a:r>
          </a:p>
          <a:p>
            <a:r>
              <a:t>Limit: League reporting cites an unnamed source for full terms; CBT amount approximate.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Original-decision illustration dated December 31, 2023. Assumed rates; not club cost-of-capital estimates. Full explanatory copy: December 31, 2023 modeled payment PV: $448.7m at 3%, $337.8m at 5%, $256.8m at 7%. Nominal pretax USD; all modeled payments occur at year end. The 5% salary-only annual equivalent over ten years is $43.75m. This is an illustrative DCF, not today's liability or the CBT calculation.</a:t>
            </a:r>
          </a:p>
          <a:p/>
          <a:p>
            <a:r>
              <a:t>Slide copy:</a:t>
            </a:r>
          </a:p>
          <a:p>
            <a:r>
              <a:t>December 31, 2023 illustration: nominal pretax USD, year-end payments; discount rates are assumptions.</a:t>
            </a:r>
          </a:p>
          <a:p>
            <a:r>
              <a:t>Salary-payment model excludes CBT cash tax, funding liquidity and other club costs; not today's liability.</a:t>
            </a:r>
          </a:p>
          <a:p>
            <a:r>
              <a:t>Illustrative value at Dec. 31, 2023. Excludes CBT cash tax, alternative roster costs and other club cash flows.</a:t>
            </a:r>
          </a:p>
          <a:p/>
          <a:p>
            <a:r>
              <a:t>Sources:</a:t>
            </a:r>
          </a:p>
          <a:p>
            <a:r>
              <a:t>[FRED_MODEL] Fred Cedar: illustrative original-decision payment DCF model valuation date 2023-12-31; prepared 2026-10-13</a:t>
            </a:r>
          </a:p>
          <a:p>
            <a:r>
              <a:t>../finance.json</a:t>
            </a:r>
          </a:p>
          <a:p>
            <a:r>
              <a:t>Limit: Illustrative original-decision payment DCF dated December 31, 2023; nominal pretax USD, year-end timing; excludes other club costs.</a:t>
            </a:r>
          </a:p>
          <a:p>
            <a:r>
              <a:t>[MLB1] MLB: Ohtani contract deferrals explained 2023-12-12</a:t>
            </a:r>
          </a:p>
          <a:p>
            <a:r>
              <a:t>https://www.mlb.com/news/shohei-ohtani-dodgers-deal-deferrals-explained</a:t>
            </a:r>
          </a:p>
          <a:p>
            <a:r>
              <a:t>Limit: League reporting cites an unnamed source for full terms; CBT amount approximate.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Slide copy:</a:t>
            </a:r>
          </a:p>
          <a:p>
            <a:r>
              <a:t>CBA funding rules require present-value funding by the second July 1 after the earning season.</a:t>
            </a:r>
          </a:p>
          <a:p>
            <a:r>
              <a:t>Actual reserve balances and funding records were not obtained.</a:t>
            </a:r>
          </a:p>
          <a:p>
            <a:r>
              <a:t>Reserve allocations and later player payments must not become two compensation costs.</a:t>
            </a:r>
          </a:p>
          <a:p>
            <a:r>
              <a:t>Model liquidity separately from the player-payment DCF.</a:t>
            </a:r>
          </a:p>
          <a:p/>
          <a:p>
            <a:r>
              <a:t>Sources:</a:t>
            </a:r>
          </a:p>
          <a:p>
            <a:r>
              <a:t>[CBA1] MLBPA: 2022–2026 Basic Agreement 2022–2026 agreement</a:t>
            </a:r>
          </a:p>
          <a:p>
            <a:r>
              <a:t>https://www.mlbplayers.com/_files/ugd/4d23dc_d6dfc2344d2042de973e37de62484da5.pdf</a:t>
            </a:r>
          </a:p>
          <a:p>
            <a:r>
              <a:t>Limit: Article XVI funding and Article XXIII CBT are separate; actual funding records unavailable.</a:t>
            </a:r>
          </a:p>
          <a:p>
            <a:r>
              <a:t>[FRED_MODEL] Fred Cedar: illustrative original-decision payment DCF model valuation date 2023-12-31; prepared 2026-10-13</a:t>
            </a:r>
          </a:p>
          <a:p>
            <a:r>
              <a:t>../finance.json</a:t>
            </a:r>
          </a:p>
          <a:p>
            <a:r>
              <a:t>Limit: Illustrative original-decision payment DCF dated December 31, 2023; nominal pretax USD, year-end timing; excludes other club costs.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inputs hypothetical. Contribution excludes modeled salary and other separately omitted costs.</a:t>
            </a:r>
          </a:p>
          <a:p/>
          <a:p>
            <a:r>
              <a:t>Slide copy:</a:t>
            </a:r>
          </a:p>
          <a:p>
            <a:r>
              <a:t>Invented example: $100m annual gross receipts × 50% attribution × 40% retained margin.</a:t>
            </a:r>
          </a:p>
          <a:p>
            <a:r>
              <a:t>Result: $20m annual contribution; $154.4m ten-year PV at 5%.</a:t>
            </a:r>
          </a:p>
          <a:p>
            <a:r>
              <a:t>That is $183.4m below modeled salary-payment PV before other club effects.</a:t>
            </a:r>
          </a:p>
          <a:p>
            <a:r>
              <a:t>This is a sensitivity, not actual receipts, a forecast or a contract verdict.</a:t>
            </a:r>
          </a:p>
          <a:p/>
          <a:p>
            <a:r>
              <a:t>Sources:</a:t>
            </a:r>
          </a:p>
          <a:p>
            <a:r>
              <a:t>[FRED_MODEL] Fred Cedar: illustrative original-decision payment DCF model valuation date 2023-12-31; prepared 2026-10-13</a:t>
            </a:r>
          </a:p>
          <a:p>
            <a:r>
              <a:t>../finance.json</a:t>
            </a:r>
          </a:p>
          <a:p>
            <a:r>
              <a:t>Limit: Illustrative original-decision payment DCF dated December 31, 2023; nominal pretax USD, year-end timing; excludes other club costs.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Merged investment question and leadership decision. Add attributable retained club contribution and avoided alternative roster costs. Subtract compensation, marginal CBT tax and other incremental club costs. Count monetized sporting benefits once. Keep athlete endorsements outside the club ledger. Specify the alternative roster and its expected costs and contribution. Obtain attributable club receipts, retained margins and funding records. Rebuild remaining obligations for a current valuation. Current evidence supports opportunity, not proven net breakeven or a 'best ever' ranking. This table is a contract-structure comparator, not a computed present-value comparison or a rank of investment returns. Use consistent expected-performance assumptions and dates. Keep athlete endorsements outside club receipts. Source limits apply.</a:t>
            </a:r>
          </a:p>
          <a:p/>
          <a:p>
            <a:r>
              <a:t>Slide copy:</a:t>
            </a:r>
          </a:p>
          <a:p>
            <a:r>
              <a:t>Normalize valuation date, cash timing, duration, option scenarios and expected contribution before comparing.</a:t>
            </a:r>
          </a:p>
          <a:p>
            <a:r>
              <a:t>Value retained club contribution and roster alternatives against compensation, marginal CBT tax and other incremental costs.</a:t>
            </a:r>
          </a:p>
          <a:p>
            <a:r>
              <a:t>Headline totals do not establish net breakeven or a best-ever ranking.</a:t>
            </a:r>
          </a:p>
          <a:p/>
          <a:p>
            <a:r>
              <a:t>Sources:</a:t>
            </a:r>
          </a:p>
          <a:p>
            <a:r>
              <a:t>[MLB1] MLB: Ohtani contract deferrals explained 2023-12-12</a:t>
            </a:r>
          </a:p>
          <a:p>
            <a:r>
              <a:t>https://www.mlb.com/news/shohei-ohtani-dodgers-deal-deferrals-explained</a:t>
            </a:r>
          </a:p>
          <a:p>
            <a:r>
              <a:t>Limit: League reporting cites an unnamed source for full terms; CBT amount approximate.</a:t>
            </a:r>
          </a:p>
          <a:p>
            <a:r>
              <a:t>[SOTO1] MLB: Soto agreement 2024-12-11</a:t>
            </a:r>
          </a:p>
          <a:p>
            <a:r>
              <a:t>https://www.mlb.com/news/juan-soto-agrees-to-contract-with-mets</a:t>
            </a:r>
          </a:p>
          <a:p>
            <a:r>
              <a:t>Limit: League reporting, not signed-contract review.</a:t>
            </a:r>
          </a:p>
          <a:p>
            <a:r>
              <a:t>[FRED_MODEL] Fred Cedar: illustrative original-decision payment DCF model valuation date 2023-12-31; prepared 2026-10-13</a:t>
            </a:r>
          </a:p>
          <a:p>
            <a:r>
              <a:t>../finance.json</a:t>
            </a:r>
          </a:p>
          <a:p>
            <a:r>
              <a:t>Limit: Illustrative original-decision payment DCF dated December 31, 2023; nominal pretax USD, year-end timing; excludes other club costs.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source with its date, recipient, measurement period and disclosure limits. Announcements establish agreements, not current unchanged terms, fees or incremental return.</a:t>
            </a:r>
          </a:p>
          <a:p/>
          <a:p>
            <a:r>
              <a:t>Slide copy:</a:t>
            </a:r>
          </a:p>
          <a:p/>
          <a:p/>
          <a:p>
            <a:r>
              <a:t>Sources:</a:t>
            </a:r>
          </a:p>
          <a:p>
            <a:r>
              <a:t>[SAVANT] MLB Baseball Savant: Shohei Ohtani regular-season statistics retrieved 2026-10-13</a:t>
            </a:r>
          </a:p>
          <a:p>
            <a:r>
              <a:t>https://baseballsavant.mlb.com/savant-player/shohei-ohtani-660271</a:t>
            </a:r>
          </a:p>
          <a:p>
            <a:r>
              <a:t>Limit: Regular-season statistics retrieved October 13, 2026; dynamic source.</a:t>
            </a:r>
          </a:p>
          <a:p>
            <a:r>
              <a:t>[MVP24] BBWAA: 2024 National League MVP result 2024-11-21</a:t>
            </a:r>
          </a:p>
          <a:p>
            <a:r>
              <a:t>https://bbwaa.com/24-nl-mvp/</a:t>
            </a:r>
          </a:p>
          <a:p>
            <a:r>
              <a:t>Limit: Primary source; use the stated period and scope.</a:t>
            </a:r>
          </a:p>
          <a:p>
            <a:r>
              <a:t>[MVP25] BBWAA: 2025 National League MVP result 2025-11-13</a:t>
            </a:r>
          </a:p>
          <a:p>
            <a:r>
              <a:t>https://bbwaa.com/25-nl-mvp/</a:t>
            </a:r>
          </a:p>
          <a:p>
            <a:r>
              <a:t>Limit: Primary source; use the stated period and scope.</a:t>
            </a:r>
          </a:p>
          <a:p>
            <a:r>
              <a:t>[ANA1] ANA: Dodgers partnership announcement 2024-04-02</a:t>
            </a:r>
          </a:p>
          <a:p>
            <a:r>
              <a:t>https://www.anahd.co.jp/group/en/pr/202404/20240402.html</a:t>
            </a:r>
          </a:p>
          <a:p>
            <a:r>
              <a:t>Limit: Club partnership announced April 2, 2024; fee and isolated player attribution undisclosed.</a:t>
            </a:r>
          </a:p>
          <a:p>
            <a:r>
              <a:t>[UNIQLO] Fast Retailing: UNIQLO Dodgers partnership announcement 2026-03-26</a:t>
            </a:r>
          </a:p>
          <a:p>
            <a:r>
              <a:t>https://www.fastretailing.com/eng/group/news/2603261000.html</a:t>
            </a:r>
          </a:p>
          <a:p>
            <a:r>
              <a:t>Limit: Club partnership announcement, March 26, 2026; no fee or Ohtani-specific causation.</a:t>
            </a:r>
          </a:p>
          <a:p>
            <a:r>
              <a:t>[JERSEY2024] MLB/MLBPI: 2024 Ohtani Nike jersey-sales ranking 2024-09-30</a:t>
            </a:r>
          </a:p>
          <a:p>
            <a:r>
              <a:t>https://www.mlb.com/press-release/press-release-ohtani-heads-into-first-mlb-postseason-with-most-popular-player-jersey</a:t>
            </a:r>
          </a:p>
          <a:p>
            <a:r>
              <a:t>Limit: MLBShop.com Nike jersey ranking since Opening Day, announced September 30, 2024; no geography, revenue or retained profit.</a:t>
            </a:r>
          </a:p>
          <a:p>
            <a:r>
              <a:t>[FORBES2026] Forbes: The world’s highest-paid athletes, 2026 2026-05-23</a:t>
            </a:r>
          </a:p>
          <a:p>
            <a:r>
              <a:t>https://www.forbes.com.au/news/sport/the-worlds-10-highest-paid-athletes-2026/</a:t>
            </a:r>
          </a:p>
          <a:p>
            <a:r>
              <a:t>Limit: Worldwide estimate, May 1, 2025 to May 1, 2026; multiple off-field revenue types; no U.S. allocation.</a:t>
            </a:r>
          </a:p>
          <a:p>
            <a:r>
              <a:t>[MLB1] MLB: Ohtani contract deferrals explained 2023-12-12</a:t>
            </a:r>
          </a:p>
          <a:p>
            <a:r>
              <a:t>https://www.mlb.com/news/shohei-ohtani-dodgers-deal-deferrals-explained</a:t>
            </a:r>
          </a:p>
          <a:p>
            <a:r>
              <a:t>Limit: League reporting cites an unnamed source for full terms; CBT amount approximate.</a:t>
            </a:r>
          </a:p>
          <a:p>
            <a:r>
              <a:t>[FRED_MODEL] Fred Cedar: illustrative original-decision payment DCF model valuation date 2023-12-31; prepared 2026-10-13</a:t>
            </a:r>
          </a:p>
          <a:p>
            <a:r>
              <a:t>../finance.json</a:t>
            </a:r>
          </a:p>
          <a:p>
            <a:r>
              <a:t>Limit: Illustrative original-decision payment DCF dated December 31, 2023; nominal pretax USD, year-end timing; excludes other club costs.</a:t>
            </a:r>
          </a:p>
          <a:p>
            <a:r>
              <a:t>[CBA1] MLBPA: 2022–2026 Basic Agreement 2022–2026 agreement</a:t>
            </a:r>
          </a:p>
          <a:p>
            <a:r>
              <a:t>https://www.mlbplayers.com/_files/ugd/4d23dc_d6dfc2344d2042de973e37de62484da5.pdf</a:t>
            </a:r>
          </a:p>
          <a:p>
            <a:r>
              <a:t>Limit: Article XVI funding and Article XXIII CBT are separate; actual funding records unavailable.</a:t>
            </a:r>
          </a:p>
          <a:p>
            <a:r>
              <a:t>[SOTO1] MLB: Soto agreement 2024-12-11</a:t>
            </a:r>
          </a:p>
          <a:p>
            <a:r>
              <a:t>https://www.mlb.com/news/juan-soto-agrees-to-contract-with-mets</a:t>
            </a:r>
          </a:p>
          <a:p>
            <a:r>
              <a:t>Limit: League reporting, not signed-contract review.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baseballsavant.mlb.com/savant-player/shohei-ohtani-660271" TargetMode="External"/><Relationship Id="rId3" Type="http://schemas.openxmlformats.org/officeDocument/2006/relationships/hyperlink" Target="https://bbwaa.com/24-nl-mvp/" TargetMode="External"/><Relationship Id="rId4" Type="http://schemas.openxmlformats.org/officeDocument/2006/relationships/hyperlink" Target="https://bbwaa.com/25-nl-mvp/" TargetMode="Externa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ahd.co.jp/group/en/pr/202404/20240402.html" TargetMode="External"/><Relationship Id="rId3" Type="http://schemas.openxmlformats.org/officeDocument/2006/relationships/hyperlink" Target="https://www.fastretailing.com/eng/group/news/2603261000.html"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lb.com/press-release/press-release-ohtani-heads-into-first-mlb-postseason-with-most-popular-player-jersey" TargetMode="External"/><Relationship Id="rId3" Type="http://schemas.openxmlformats.org/officeDocument/2006/relationships/hyperlink" Target="https://www.forbes.com.au/news/sport/the-worlds-10-highest-paid-athletes-2026/"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lb.com/news/shohei-ohtani-dodgers-deal-deferrals-explained"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inance.json" TargetMode="External"/><Relationship Id="rId3" Type="http://schemas.openxmlformats.org/officeDocument/2006/relationships/hyperlink" Target="https://www.mlb.com/news/shohei-ohtani-dodgers-deal-deferrals-explained"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lbplayers.com/_files/ugd/4d23dc_d6dfc2344d2042de973e37de62484da5.pdf" TargetMode="External"/><Relationship Id="rId3" Type="http://schemas.openxmlformats.org/officeDocument/2006/relationships/hyperlink" Target="../finance.json"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inance.json"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lb.com/news/shohei-ohtani-dodgers-deal-deferrals-explained" TargetMode="External"/><Relationship Id="rId3" Type="http://schemas.openxmlformats.org/officeDocument/2006/relationships/hyperlink" Target="https://www.mlb.com/news/juan-soto-agrees-to-contract-with-mets" TargetMode="External"/><Relationship Id="rId4" Type="http://schemas.openxmlformats.org/officeDocument/2006/relationships/hyperlink" Target="../finance.json" TargetMode="Externa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baseballsavant.mlb.com/savant-player/shohei-ohtani-660271" TargetMode="External"/><Relationship Id="rId3" Type="http://schemas.openxmlformats.org/officeDocument/2006/relationships/hyperlink" Target="https://bbwaa.com/24-nl-mvp/" TargetMode="External"/><Relationship Id="rId4" Type="http://schemas.openxmlformats.org/officeDocument/2006/relationships/hyperlink" Target="https://bbwaa.com/25-nl-mvp/" TargetMode="External"/><Relationship Id="rId5" Type="http://schemas.openxmlformats.org/officeDocument/2006/relationships/hyperlink" Target="https://www.anahd.co.jp/group/en/pr/202404/20240402.html" TargetMode="External"/><Relationship Id="rId6" Type="http://schemas.openxmlformats.org/officeDocument/2006/relationships/hyperlink" Target="https://www.fastretailing.com/eng/group/news/2603261000.html" TargetMode="External"/><Relationship Id="rId7" Type="http://schemas.openxmlformats.org/officeDocument/2006/relationships/hyperlink" Target="https://www.mlb.com/press-release/press-release-ohtani-heads-into-first-mlb-postseason-with-most-popular-player-jersey" TargetMode="External"/><Relationship Id="rId8" Type="http://schemas.openxmlformats.org/officeDocument/2006/relationships/hyperlink" Target="https://www.forbes.com.au/news/sport/the-worlds-10-highest-paid-athletes-2026/" TargetMode="External"/><Relationship Id="rId9" Type="http://schemas.openxmlformats.org/officeDocument/2006/relationships/hyperlink" Target="https://www.mlb.com/news/shohei-ohtani-dodgers-deal-deferrals-explained" TargetMode="External"/><Relationship Id="rId10" Type="http://schemas.openxmlformats.org/officeDocument/2006/relationships/hyperlink" Target="../finance.json" TargetMode="External"/><Relationship Id="rId11" Type="http://schemas.openxmlformats.org/officeDocument/2006/relationships/hyperlink" Target="https://www.mlbplayers.com/_files/ugd/4d23dc_d6dfc2344d2042de973e37de62484da5.pdf" TargetMode="External"/><Relationship Id="rId12" Type="http://schemas.openxmlformats.org/officeDocument/2006/relationships/hyperlink" Target="https://www.mlb.com/news/juan-soto-agrees-to-contract-with-mets" TargetMode="External"/><Relationship Id="rId1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506274"/>
                </a:solidFill>
                <a:latin typeface="Arial"/>
              </a:defRPr>
            </a:pPr>
            <a:r>
              <a:t>AGENCY LEADERSHIP | USD | EVIDENCE CUTOFF OCTOBER 13, 2026</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142A40"/>
                </a:solidFill>
                <a:latin typeface="Arial"/>
              </a:defRPr>
            </a:pPr>
            <a:r>
              <a:t>Agency leadership | Ohtani's Dodgers contract</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506274"/>
                </a:solidFill>
                <a:latin typeface="Arial"/>
              </a:defRPr>
            </a:pPr>
            <a:r>
              <a:t>Exceptional output. A commercial opportunity to value.</a:t>
            </a:r>
          </a:p>
        </p:txBody>
      </p:sp>
      <p:sp>
        <p:nvSpPr>
          <p:cNvPr id="7" name="Rounded Rectangle 6"/>
          <p:cNvSpPr/>
          <p:nvPr/>
        </p:nvSpPr>
        <p:spPr>
          <a:xfrm>
            <a:off x="609600" y="2603500"/>
            <a:ext cx="10795000" cy="3302000"/>
          </a:xfrm>
          <a:prstGeom prst="roundRect">
            <a:avLst>
              <a:gd name="adj" fmla="val 12000"/>
            </a:avLst>
          </a:prstGeom>
          <a:solidFill>
            <a:srgbClr val="14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5200" y="2882900"/>
            <a:ext cx="10033000" cy="1016000"/>
          </a:xfrm>
          <a:prstGeom prst="rect">
            <a:avLst/>
          </a:prstGeom>
          <a:noFill/>
        </p:spPr>
        <p:txBody>
          <a:bodyPr wrap="none" lIns="0" rIns="0" tIns="0" bIns="0">
            <a:spAutoFit/>
          </a:bodyPr>
          <a:lstStyle/>
          <a:p>
            <a:pPr>
              <a:lnSpc>
                <a:spcPts val="3567"/>
              </a:lnSpc>
              <a:spcBef>
                <a:spcPts val="0"/>
              </a:spcBef>
              <a:spcAft>
                <a:spcPts val="0"/>
              </a:spcAft>
              <a:defRPr sz="2900" b="1">
                <a:solidFill>
                  <a:srgbClr val="FFFFFF"/>
                </a:solidFill>
                <a:latin typeface="Arial"/>
              </a:defRPr>
            </a:pPr>
            <a:r>
              <a:t>An opportunity case for agency leadership</a:t>
            </a:r>
          </a:p>
        </p:txBody>
      </p:sp>
      <p:sp>
        <p:nvSpPr>
          <p:cNvPr id="9" name="TextBox 8"/>
          <p:cNvSpPr txBox="1"/>
          <p:nvPr/>
        </p:nvSpPr>
        <p:spPr>
          <a:xfrm>
            <a:off x="965200" y="4064000"/>
            <a:ext cx="10033000" cy="1524000"/>
          </a:xfrm>
          <a:prstGeom prst="rect">
            <a:avLst/>
          </a:prstGeom>
          <a:noFill/>
        </p:spPr>
        <p:txBody>
          <a:bodyPr wrap="none" lIns="0" rIns="0" tIns="0" bIns="0">
            <a:spAutoFit/>
          </a:bodyPr>
          <a:lstStyle/>
          <a:p>
            <a:pPr>
              <a:lnSpc>
                <a:spcPts val="2091"/>
              </a:lnSpc>
              <a:spcBef>
                <a:spcPts val="0"/>
              </a:spcBef>
              <a:spcAft>
                <a:spcPts val="0"/>
              </a:spcAft>
              <a:defRPr sz="1700" b="0">
                <a:solidFill>
                  <a:srgbClr val="FFFFFF"/>
                </a:solidFill>
                <a:latin typeface="Arial"/>
              </a:defRPr>
            </a:pPr>
            <a:r>
              <a:t>Assess the Dodgers salary commitment against an alternative roster.</a:t>
            </a:r>
          </a:p>
          <a:p>
            <a:pPr>
              <a:lnSpc>
                <a:spcPts val="2091"/>
              </a:lnSpc>
              <a:spcBef>
                <a:spcPts val="0"/>
              </a:spcBef>
              <a:spcAft>
                <a:spcPts val="0"/>
              </a:spcAft>
              <a:defRPr sz="1700" b="0">
                <a:solidFill>
                  <a:srgbClr val="FFFFFF"/>
                </a:solidFill>
                <a:latin typeface="Arial"/>
              </a:defRPr>
            </a:pPr>
            <a:r>
              <a:t>Combine baseball contribution with attributable club commercial contribution.</a:t>
            </a:r>
          </a:p>
          <a:p>
            <a:pPr>
              <a:lnSpc>
                <a:spcPts val="2091"/>
              </a:lnSpc>
              <a:spcBef>
                <a:spcPts val="0"/>
              </a:spcBef>
              <a:spcAft>
                <a:spcPts val="0"/>
              </a:spcAft>
              <a:defRPr sz="1700" b="0">
                <a:solidFill>
                  <a:srgbClr val="FFFFFF"/>
                </a:solidFill>
                <a:latin typeface="Arial"/>
              </a:defRPr>
            </a:pPr>
            <a:r>
              <a:t>Evidence cutoff: October 13, 2026. Original-decision DCF: December 31, 2023.</a:t>
            </a:r>
          </a:p>
        </p:txBody>
      </p:sp>
      <p:cxnSp>
        <p:nvCxnSpPr>
          <p:cNvPr id="10" name="Connector 9"/>
          <p:cNvCxnSpPr/>
          <p:nvPr/>
        </p:nvCxnSpPr>
        <p:spPr>
          <a:xfrm>
            <a:off x="609600" y="6515100"/>
            <a:ext cx="10795000" cy="0"/>
          </a:xfrm>
          <a:prstGeom prst="line">
            <a:avLst/>
          </a:prstGeom>
          <a:ln w="12700">
            <a:solidFill>
              <a:srgbClr val="DDEDE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ORIGINAL-DECISION ILLUSTRATION | assumptions and exclusions apply</a:t>
            </a:r>
          </a:p>
        </p:txBody>
      </p:sp>
      <p:sp>
        <p:nvSpPr>
          <p:cNvPr id="12" name="TextBox 11"/>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506274"/>
                </a:solidFill>
                <a:latin typeface="Arial"/>
              </a:defRPr>
            </a:pPr>
            <a:r>
              <a:t>AGENCY LEADERSHIP | USD | EVIDENCE CUTOFF OCTOBER 13, 2026</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142A40"/>
                </a:solidFill>
                <a:latin typeface="Arial"/>
              </a:defRPr>
            </a:pPr>
            <a:r>
              <a:t>Performance earns the first slide</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506274"/>
                </a:solidFill>
                <a:latin typeface="Arial"/>
              </a:defRPr>
            </a:pPr>
            <a:r>
              <a:t>The baseball case has measurable substance.</a:t>
            </a:r>
          </a:p>
        </p:txBody>
      </p:sp>
      <p:sp>
        <p:nvSpPr>
          <p:cNvPr id="7" name="Rectangle 6"/>
          <p:cNvSpPr/>
          <p:nvPr/>
        </p:nvSpPr>
        <p:spPr>
          <a:xfrm>
            <a:off x="609600" y="2692400"/>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600" y="2603500"/>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142A40"/>
                </a:solidFill>
                <a:latin typeface="Arial"/>
              </a:defRPr>
            </a:pPr>
            <a:r>
              <a:t>2024 regular season: 54 home runs, 59 steals, 1.036 OPS.</a:t>
            </a:r>
          </a:p>
        </p:txBody>
      </p:sp>
      <p:sp>
        <p:nvSpPr>
          <p:cNvPr id="9" name="Rectangle 8"/>
          <p:cNvSpPr/>
          <p:nvPr/>
        </p:nvSpPr>
        <p:spPr>
          <a:xfrm>
            <a:off x="609600" y="3495675"/>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340677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142A40"/>
                </a:solidFill>
                <a:latin typeface="Arial"/>
              </a:defRPr>
            </a:pPr>
            <a:r>
              <a:t>2025 regular season: 55 home runs, 1.014 OPS; 47 pitching innings.</a:t>
            </a:r>
          </a:p>
        </p:txBody>
      </p:sp>
      <p:sp>
        <p:nvSpPr>
          <p:cNvPr id="11" name="Rectangle 10"/>
          <p:cNvSpPr/>
          <p:nvPr/>
        </p:nvSpPr>
        <p:spPr>
          <a:xfrm>
            <a:off x="609600" y="4298950"/>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 y="4210050"/>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142A40"/>
                </a:solidFill>
                <a:latin typeface="Arial"/>
              </a:defRPr>
            </a:pPr>
            <a:r>
              <a:t>Unanimous NL MVP in 2024 and 2025.</a:t>
            </a:r>
          </a:p>
        </p:txBody>
      </p:sp>
      <p:sp>
        <p:nvSpPr>
          <p:cNvPr id="13" name="Rectangle 12"/>
          <p:cNvSpPr/>
          <p:nvPr/>
        </p:nvSpPr>
        <p:spPr>
          <a:xfrm>
            <a:off x="609600" y="5102225"/>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600" y="501332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142A40"/>
                </a:solidFill>
                <a:latin typeface="Arial"/>
              </a:defRPr>
            </a:pPr>
            <a:r>
              <a:t>Output supports the sporting case; it does not calculate club profit.</a:t>
            </a:r>
          </a:p>
        </p:txBody>
      </p:sp>
      <p:sp>
        <p:nvSpPr>
          <p:cNvPr id="15" name="TextBox 14"/>
          <p:cNvSpPr txBox="1"/>
          <p:nvPr/>
        </p:nvSpPr>
        <p:spPr>
          <a:xfrm>
            <a:off x="609600" y="6070600"/>
            <a:ext cx="3445933"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rPr>
                <a:hlinkClick r:id="rId2"/>
              </a:rPr>
              <a:t>[SAVANT] baseballsavant.mlb.com</a:t>
            </a:r>
          </a:p>
        </p:txBody>
      </p:sp>
      <p:sp>
        <p:nvSpPr>
          <p:cNvPr id="16" name="TextBox 15"/>
          <p:cNvSpPr txBox="1"/>
          <p:nvPr/>
        </p:nvSpPr>
        <p:spPr>
          <a:xfrm>
            <a:off x="4207933" y="6070600"/>
            <a:ext cx="3445933"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rPr>
                <a:hlinkClick r:id="rId3"/>
              </a:rPr>
              <a:t>[MVP24] bbwaa.com</a:t>
            </a:r>
          </a:p>
        </p:txBody>
      </p:sp>
      <p:sp>
        <p:nvSpPr>
          <p:cNvPr id="17" name="TextBox 16"/>
          <p:cNvSpPr txBox="1"/>
          <p:nvPr/>
        </p:nvSpPr>
        <p:spPr>
          <a:xfrm>
            <a:off x="7806266" y="6070600"/>
            <a:ext cx="3445933"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rPr>
                <a:hlinkClick r:id="rId4"/>
              </a:rPr>
              <a:t>[MVP25] bbwaa.com</a:t>
            </a:r>
          </a:p>
        </p:txBody>
      </p:sp>
      <p:cxnSp>
        <p:nvCxnSpPr>
          <p:cNvPr id="18" name="Connector 17"/>
          <p:cNvCxnSpPr/>
          <p:nvPr/>
        </p:nvCxnSpPr>
        <p:spPr>
          <a:xfrm>
            <a:off x="609600" y="6515100"/>
            <a:ext cx="10795000" cy="0"/>
          </a:xfrm>
          <a:prstGeom prst="line">
            <a:avLst/>
          </a:prstGeom>
          <a:ln w="12700">
            <a:solidFill>
              <a:srgbClr val="DDEDE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ORIGINAL-DECISION ILLUSTRATION | assumptions and exclusions apply</a:t>
            </a:r>
          </a:p>
        </p:txBody>
      </p:sp>
      <p:sp>
        <p:nvSpPr>
          <p:cNvPr id="20" name="TextBox 19"/>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506274"/>
                </a:solidFill>
                <a:latin typeface="Arial"/>
              </a:defRPr>
            </a:pPr>
            <a:r>
              <a:t>AGENCY LEADERSHIP | USD | EVIDENCE CUTOFF OCTOBER 13, 2026</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142A40"/>
                </a:solidFill>
                <a:latin typeface="Arial"/>
              </a:defRPr>
            </a:pPr>
            <a:r>
              <a:t>Commercial evidence | name the recipient</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506274"/>
                </a:solidFill>
                <a:latin typeface="Arial"/>
              </a:defRPr>
            </a:pPr>
            <a:r>
              <a:t>Documented club partnerships expand the opportunity.</a:t>
            </a:r>
          </a:p>
        </p:txBody>
      </p:sp>
      <p:sp>
        <p:nvSpPr>
          <p:cNvPr id="7" name="Rectangle 6"/>
          <p:cNvSpPr/>
          <p:nvPr/>
        </p:nvSpPr>
        <p:spPr>
          <a:xfrm>
            <a:off x="609600" y="2692400"/>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600" y="2603500"/>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142A40"/>
                </a:solidFill>
                <a:latin typeface="Arial"/>
              </a:defRPr>
            </a:pPr>
            <a:r>
              <a:t>ANA announced a multiyear Dodgers partnership in April 2024.</a:t>
            </a:r>
          </a:p>
        </p:txBody>
      </p:sp>
      <p:sp>
        <p:nvSpPr>
          <p:cNvPr id="9" name="Rectangle 8"/>
          <p:cNvSpPr/>
          <p:nvPr/>
        </p:nvSpPr>
        <p:spPr>
          <a:xfrm>
            <a:off x="609600" y="3495675"/>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340677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142A40"/>
                </a:solidFill>
                <a:latin typeface="Arial"/>
              </a:defRPr>
            </a:pPr>
            <a:r>
              <a:t>UNIQLO announced a Dodgers partnership in March 2026.</a:t>
            </a:r>
          </a:p>
        </p:txBody>
      </p:sp>
      <p:sp>
        <p:nvSpPr>
          <p:cNvPr id="11" name="Rectangle 10"/>
          <p:cNvSpPr/>
          <p:nvPr/>
        </p:nvSpPr>
        <p:spPr>
          <a:xfrm>
            <a:off x="609600" y="4298950"/>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 y="4210050"/>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142A40"/>
                </a:solidFill>
                <a:latin typeface="Arial"/>
              </a:defRPr>
            </a:pPr>
            <a:r>
              <a:t>The announcements establish agreements, not fees or sole Ohtani causation.</a:t>
            </a:r>
          </a:p>
        </p:txBody>
      </p:sp>
      <p:sp>
        <p:nvSpPr>
          <p:cNvPr id="13" name="Rectangle 12"/>
          <p:cNvSpPr/>
          <p:nvPr/>
        </p:nvSpPr>
        <p:spPr>
          <a:xfrm>
            <a:off x="609600" y="5102225"/>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600" y="501332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142A40"/>
                </a:solidFill>
                <a:latin typeface="Arial"/>
              </a:defRPr>
            </a:pPr>
            <a:r>
              <a:t>Player agreements and club agreements have different recipients.</a:t>
            </a:r>
          </a:p>
        </p:txBody>
      </p:sp>
      <p:sp>
        <p:nvSpPr>
          <p:cNvPr id="15" name="TextBox 14"/>
          <p:cNvSpPr txBox="1"/>
          <p:nvPr/>
        </p:nvSpPr>
        <p:spPr>
          <a:xfrm>
            <a:off x="609600" y="6070600"/>
            <a:ext cx="5245100"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rPr>
                <a:hlinkClick r:id="rId2"/>
              </a:rPr>
              <a:t>[ANA1] www.anahd.co.jp</a:t>
            </a:r>
          </a:p>
        </p:txBody>
      </p:sp>
      <p:sp>
        <p:nvSpPr>
          <p:cNvPr id="16" name="TextBox 15"/>
          <p:cNvSpPr txBox="1"/>
          <p:nvPr/>
        </p:nvSpPr>
        <p:spPr>
          <a:xfrm>
            <a:off x="6007100" y="6070600"/>
            <a:ext cx="5245100"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rPr>
                <a:hlinkClick r:id="rId3"/>
              </a:rPr>
              <a:t>[UNIQLO] www.fastretailing.com</a:t>
            </a:r>
          </a:p>
        </p:txBody>
      </p:sp>
      <p:cxnSp>
        <p:nvCxnSpPr>
          <p:cNvPr id="17" name="Connector 16"/>
          <p:cNvCxnSpPr/>
          <p:nvPr/>
        </p:nvCxnSpPr>
        <p:spPr>
          <a:xfrm>
            <a:off x="609600" y="6515100"/>
            <a:ext cx="10795000" cy="0"/>
          </a:xfrm>
          <a:prstGeom prst="line">
            <a:avLst/>
          </a:prstGeom>
          <a:ln w="12700">
            <a:solidFill>
              <a:srgbClr val="DDEDE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ORIGINAL-DECISION ILLUSTRATION | assumptions and exclusions apply</a:t>
            </a:r>
          </a:p>
        </p:txBody>
      </p:sp>
      <p:sp>
        <p:nvSpPr>
          <p:cNvPr id="19" name="TextBox 18"/>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506274"/>
                </a:solidFill>
                <a:latin typeface="Arial"/>
              </a:defRPr>
            </a:pPr>
            <a:r>
              <a:t>AGENCY LEADERSHIP | USD | EVIDENCE CUTOFF OCTOBER 13, 2026</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142A40"/>
                </a:solidFill>
                <a:latin typeface="Arial"/>
              </a:defRPr>
            </a:pPr>
            <a:r>
              <a:t>Demand indicators | keep their limits</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506274"/>
                </a:solidFill>
                <a:latin typeface="Arial"/>
              </a:defRPr>
            </a:pPr>
            <a:r>
              <a:t>Attention is evidence to investigate.</a:t>
            </a:r>
          </a:p>
        </p:txBody>
      </p:sp>
      <p:sp>
        <p:nvSpPr>
          <p:cNvPr id="7" name="Rectangle 6"/>
          <p:cNvSpPr/>
          <p:nvPr/>
        </p:nvSpPr>
        <p:spPr>
          <a:xfrm>
            <a:off x="609600" y="2692400"/>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600" y="2603500"/>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142A40"/>
                </a:solidFill>
                <a:latin typeface="Arial"/>
              </a:defRPr>
            </a:pPr>
            <a:r>
              <a:t>Ohtani led MLBShop.com Nike jersey sales in the reported 2024 period.</a:t>
            </a:r>
          </a:p>
        </p:txBody>
      </p:sp>
      <p:sp>
        <p:nvSpPr>
          <p:cNvPr id="9" name="Rectangle 8"/>
          <p:cNvSpPr/>
          <p:nvPr/>
        </p:nvSpPr>
        <p:spPr>
          <a:xfrm>
            <a:off x="609600" y="3495675"/>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340677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142A40"/>
                </a:solidFill>
                <a:latin typeface="Arial"/>
              </a:defRPr>
            </a:pPr>
            <a:r>
              <a:t>No purchaser geography, dollar proceeds or retained profit was disclosed.</a:t>
            </a:r>
          </a:p>
        </p:txBody>
      </p:sp>
      <p:sp>
        <p:nvSpPr>
          <p:cNvPr id="11" name="Rectangle 10"/>
          <p:cNvSpPr/>
          <p:nvPr/>
        </p:nvSpPr>
        <p:spPr>
          <a:xfrm>
            <a:off x="609600" y="4298950"/>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 y="4210050"/>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142A40"/>
                </a:solidFill>
                <a:latin typeface="Arial"/>
              </a:defRPr>
            </a:pPr>
            <a:r>
              <a:t>Forbes estimated $125m worldwide off-field earnings for May 2025 to May 2026.</a:t>
            </a:r>
          </a:p>
        </p:txBody>
      </p:sp>
      <p:sp>
        <p:nvSpPr>
          <p:cNvPr id="13" name="Rectangle 12"/>
          <p:cNvSpPr/>
          <p:nvPr/>
        </p:nvSpPr>
        <p:spPr>
          <a:xfrm>
            <a:off x="609600" y="5102225"/>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600" y="501332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142A40"/>
                </a:solidFill>
                <a:latin typeface="Arial"/>
              </a:defRPr>
            </a:pPr>
            <a:r>
              <a:t>That estimate belongs to the athlete and is not U.S.-only or Dodgers income.</a:t>
            </a:r>
          </a:p>
        </p:txBody>
      </p:sp>
      <p:sp>
        <p:nvSpPr>
          <p:cNvPr id="15" name="TextBox 14"/>
          <p:cNvSpPr txBox="1"/>
          <p:nvPr/>
        </p:nvSpPr>
        <p:spPr>
          <a:xfrm>
            <a:off x="609600" y="6070600"/>
            <a:ext cx="5245100"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rPr>
                <a:hlinkClick r:id="rId2"/>
              </a:rPr>
              <a:t>[JERSEY2024] www.mlb.com</a:t>
            </a:r>
          </a:p>
        </p:txBody>
      </p:sp>
      <p:sp>
        <p:nvSpPr>
          <p:cNvPr id="16" name="TextBox 15"/>
          <p:cNvSpPr txBox="1"/>
          <p:nvPr/>
        </p:nvSpPr>
        <p:spPr>
          <a:xfrm>
            <a:off x="6007100" y="6070600"/>
            <a:ext cx="5245100"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rPr>
                <a:hlinkClick r:id="rId3"/>
              </a:rPr>
              <a:t>[FORBES2026] www.forbes.com.au</a:t>
            </a:r>
          </a:p>
        </p:txBody>
      </p:sp>
      <p:cxnSp>
        <p:nvCxnSpPr>
          <p:cNvPr id="17" name="Connector 16"/>
          <p:cNvCxnSpPr/>
          <p:nvPr/>
        </p:nvCxnSpPr>
        <p:spPr>
          <a:xfrm>
            <a:off x="609600" y="6515100"/>
            <a:ext cx="10795000" cy="0"/>
          </a:xfrm>
          <a:prstGeom prst="line">
            <a:avLst/>
          </a:prstGeom>
          <a:ln w="12700">
            <a:solidFill>
              <a:srgbClr val="DDEDE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ORIGINAL-DECISION ILLUSTRATION | assumptions and exclusions apply</a:t>
            </a:r>
          </a:p>
        </p:txBody>
      </p:sp>
      <p:sp>
        <p:nvSpPr>
          <p:cNvPr id="19" name="TextBox 18"/>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506274"/>
                </a:solidFill>
                <a:latin typeface="Arial"/>
              </a:defRPr>
            </a:pPr>
            <a:r>
              <a:t>AGENCY LEADERSHIP | USD | EVIDENCE CUTOFF OCTOBER 13, 2026</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142A40"/>
                </a:solidFill>
                <a:latin typeface="Arial"/>
              </a:defRPr>
            </a:pPr>
            <a:r>
              <a:t>Contract | three different measures</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506274"/>
                </a:solidFill>
                <a:latin typeface="Arial"/>
              </a:defRPr>
            </a:pPr>
            <a:r>
              <a:t>$700m is the nominal player commitment.</a:t>
            </a:r>
          </a:p>
        </p:txBody>
      </p:sp>
      <p:sp>
        <p:nvSpPr>
          <p:cNvPr id="7" name="TextBox 6"/>
          <p:cNvSpPr txBox="1"/>
          <p:nvPr/>
        </p:nvSpPr>
        <p:spPr>
          <a:xfrm>
            <a:off x="609600" y="2603500"/>
            <a:ext cx="6731000" cy="317500"/>
          </a:xfrm>
          <a:prstGeom prst="rect">
            <a:avLst/>
          </a:prstGeom>
          <a:noFill/>
        </p:spPr>
        <p:txBody>
          <a:bodyPr wrap="none" lIns="0" rIns="0" tIns="0" bIns="0">
            <a:spAutoFit/>
          </a:bodyPr>
          <a:lstStyle/>
          <a:p>
            <a:pPr>
              <a:lnSpc>
                <a:spcPts val="1968"/>
              </a:lnSpc>
              <a:spcBef>
                <a:spcPts val="0"/>
              </a:spcBef>
              <a:spcAft>
                <a:spcPts val="0"/>
              </a:spcAft>
              <a:defRPr sz="1600" b="1">
                <a:solidFill>
                  <a:srgbClr val="142A40"/>
                </a:solidFill>
                <a:latin typeface="Arial"/>
              </a:defRPr>
            </a:pPr>
            <a:r>
              <a:t>Contract payment timing</a:t>
            </a:r>
          </a:p>
        </p:txBody>
      </p:sp>
      <p:sp>
        <p:nvSpPr>
          <p:cNvPr id="8" name="TextBox 7"/>
          <p:cNvSpPr txBox="1"/>
          <p:nvPr/>
        </p:nvSpPr>
        <p:spPr>
          <a:xfrm>
            <a:off x="609600" y="2959100"/>
            <a:ext cx="6731000" cy="215900"/>
          </a:xfrm>
          <a:prstGeom prst="rect">
            <a:avLst/>
          </a:prstGeom>
          <a:noFill/>
        </p:spPr>
        <p:txBody>
          <a:bodyPr wrap="none" lIns="0" rIns="0" tIns="0" bIns="0">
            <a:spAutoFit/>
          </a:bodyPr>
          <a:lstStyle/>
          <a:p>
            <a:pPr>
              <a:lnSpc>
                <a:spcPts val="1230"/>
              </a:lnSpc>
              <a:spcBef>
                <a:spcPts val="0"/>
              </a:spcBef>
              <a:spcAft>
                <a:spcPts val="0"/>
              </a:spcAft>
              <a:defRPr sz="1000" b="0">
                <a:solidFill>
                  <a:srgbClr val="506274"/>
                </a:solidFill>
                <a:latin typeface="Arial"/>
              </a:defRPr>
            </a:pPr>
            <a:r>
              <a:t>USD millions</a:t>
            </a:r>
          </a:p>
        </p:txBody>
      </p:sp>
      <p:cxnSp>
        <p:nvCxnSpPr>
          <p:cNvPr id="9" name="Connector 8"/>
          <p:cNvCxnSpPr/>
          <p:nvPr/>
        </p:nvCxnSpPr>
        <p:spPr>
          <a:xfrm>
            <a:off x="1168400" y="4660900"/>
            <a:ext cx="6007100" cy="0"/>
          </a:xfrm>
          <a:prstGeom prst="line">
            <a:avLst/>
          </a:prstGeom>
          <a:ln w="7620">
            <a:solidFill>
              <a:srgbClr val="DCE2E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4584700"/>
            <a:ext cx="482600" cy="1905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0</a:t>
            </a:r>
          </a:p>
        </p:txBody>
      </p:sp>
      <p:cxnSp>
        <p:nvCxnSpPr>
          <p:cNvPr id="11" name="Connector 10"/>
          <p:cNvCxnSpPr/>
          <p:nvPr/>
        </p:nvCxnSpPr>
        <p:spPr>
          <a:xfrm>
            <a:off x="1168400" y="4352925"/>
            <a:ext cx="6007100" cy="0"/>
          </a:xfrm>
          <a:prstGeom prst="line">
            <a:avLst/>
          </a:prstGeom>
          <a:ln w="7620">
            <a:solidFill>
              <a:srgbClr val="DCE2E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9600" y="4276725"/>
            <a:ext cx="482600" cy="1905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20</a:t>
            </a:r>
          </a:p>
        </p:txBody>
      </p:sp>
      <p:cxnSp>
        <p:nvCxnSpPr>
          <p:cNvPr id="13" name="Connector 12"/>
          <p:cNvCxnSpPr/>
          <p:nvPr/>
        </p:nvCxnSpPr>
        <p:spPr>
          <a:xfrm>
            <a:off x="1168400" y="4044950"/>
            <a:ext cx="6007100" cy="0"/>
          </a:xfrm>
          <a:prstGeom prst="line">
            <a:avLst/>
          </a:prstGeom>
          <a:ln w="7620">
            <a:solidFill>
              <a:srgbClr val="DCE2E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09600" y="3968750"/>
            <a:ext cx="482600" cy="1905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40</a:t>
            </a:r>
          </a:p>
        </p:txBody>
      </p:sp>
      <p:cxnSp>
        <p:nvCxnSpPr>
          <p:cNvPr id="15" name="Connector 14"/>
          <p:cNvCxnSpPr/>
          <p:nvPr/>
        </p:nvCxnSpPr>
        <p:spPr>
          <a:xfrm>
            <a:off x="1168400" y="3736975"/>
            <a:ext cx="6007100" cy="0"/>
          </a:xfrm>
          <a:prstGeom prst="line">
            <a:avLst/>
          </a:prstGeom>
          <a:ln w="7620">
            <a:solidFill>
              <a:srgbClr val="DCE2E7"/>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3660775"/>
            <a:ext cx="482600" cy="1905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60</a:t>
            </a:r>
          </a:p>
        </p:txBody>
      </p:sp>
      <p:cxnSp>
        <p:nvCxnSpPr>
          <p:cNvPr id="17" name="Connector 16"/>
          <p:cNvCxnSpPr/>
          <p:nvPr/>
        </p:nvCxnSpPr>
        <p:spPr>
          <a:xfrm>
            <a:off x="1168400" y="3429000"/>
            <a:ext cx="6007100" cy="0"/>
          </a:xfrm>
          <a:prstGeom prst="line">
            <a:avLst/>
          </a:prstGeom>
          <a:ln w="7620">
            <a:solidFill>
              <a:srgbClr val="DCE2E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09600" y="3352800"/>
            <a:ext cx="482600" cy="1905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80</a:t>
            </a:r>
          </a:p>
        </p:txBody>
      </p:sp>
      <p:cxnSp>
        <p:nvCxnSpPr>
          <p:cNvPr id="19" name="Connector 18"/>
          <p:cNvCxnSpPr/>
          <p:nvPr/>
        </p:nvCxnSpPr>
        <p:spPr>
          <a:xfrm>
            <a:off x="1168400" y="4660900"/>
            <a:ext cx="6007100" cy="0"/>
          </a:xfrm>
          <a:prstGeom prst="line">
            <a:avLst/>
          </a:prstGeom>
          <a:ln w="12700">
            <a:solidFill>
              <a:srgbClr val="506274"/>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1222463" y="4630102"/>
            <a:ext cx="176849" cy="30797"/>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522818" y="4630102"/>
            <a:ext cx="176849" cy="30797"/>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23173" y="4630102"/>
            <a:ext cx="176849" cy="30797"/>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23528" y="4630102"/>
            <a:ext cx="176849" cy="30797"/>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423883" y="4630102"/>
            <a:ext cx="176849" cy="30797"/>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24238" y="4630102"/>
            <a:ext cx="176849" cy="30797"/>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024593" y="4630102"/>
            <a:ext cx="176849" cy="30797"/>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24948" y="4630102"/>
            <a:ext cx="176849" cy="30797"/>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25303" y="4630102"/>
            <a:ext cx="176849" cy="30797"/>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25658" y="4630102"/>
            <a:ext cx="176849" cy="30797"/>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226013" y="3613785"/>
            <a:ext cx="176849" cy="1047114"/>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26368" y="3613785"/>
            <a:ext cx="176849" cy="1047114"/>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826723" y="3613785"/>
            <a:ext cx="176849" cy="1047114"/>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127078" y="3613785"/>
            <a:ext cx="176849" cy="1047114"/>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27433" y="3613785"/>
            <a:ext cx="176849" cy="1047114"/>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727788" y="3613785"/>
            <a:ext cx="176849" cy="1047114"/>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28143" y="3613785"/>
            <a:ext cx="176849" cy="1047114"/>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28498" y="3613785"/>
            <a:ext cx="176849" cy="1047114"/>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628853" y="3613785"/>
            <a:ext cx="176849" cy="1047114"/>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929208" y="3613785"/>
            <a:ext cx="176849" cy="1047114"/>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68400" y="4775200"/>
            <a:ext cx="570674" cy="317500"/>
          </a:xfrm>
          <a:prstGeom prst="rect">
            <a:avLst/>
          </a:prstGeom>
          <a:noFill/>
        </p:spPr>
        <p:txBody>
          <a:bodyPr wrap="none" lIns="0" rIns="0" tIns="0" bIns="0">
            <a:spAutoFit/>
          </a:bodyPr>
          <a:lstStyle/>
          <a:p>
            <a:pPr>
              <a:lnSpc>
                <a:spcPts val="1230"/>
              </a:lnSpc>
              <a:spcBef>
                <a:spcPts val="0"/>
              </a:spcBef>
              <a:spcAft>
                <a:spcPts val="0"/>
              </a:spcAft>
              <a:defRPr sz="1000" b="0">
                <a:solidFill>
                  <a:srgbClr val="142A40"/>
                </a:solidFill>
                <a:latin typeface="Arial"/>
              </a:defRPr>
            </a:pPr>
            <a:r>
              <a:t>2024</a:t>
            </a:r>
          </a:p>
        </p:txBody>
      </p:sp>
      <p:sp>
        <p:nvSpPr>
          <p:cNvPr id="41" name="TextBox 40"/>
          <p:cNvSpPr txBox="1"/>
          <p:nvPr/>
        </p:nvSpPr>
        <p:spPr>
          <a:xfrm>
            <a:off x="1769110" y="4775200"/>
            <a:ext cx="570674" cy="317500"/>
          </a:xfrm>
          <a:prstGeom prst="rect">
            <a:avLst/>
          </a:prstGeom>
          <a:noFill/>
        </p:spPr>
        <p:txBody>
          <a:bodyPr wrap="none" lIns="0" rIns="0" tIns="0" bIns="0">
            <a:spAutoFit/>
          </a:bodyPr>
          <a:lstStyle/>
          <a:p>
            <a:pPr>
              <a:lnSpc>
                <a:spcPts val="1230"/>
              </a:lnSpc>
              <a:spcBef>
                <a:spcPts val="0"/>
              </a:spcBef>
              <a:spcAft>
                <a:spcPts val="0"/>
              </a:spcAft>
              <a:defRPr sz="1000" b="0">
                <a:solidFill>
                  <a:srgbClr val="142A40"/>
                </a:solidFill>
                <a:latin typeface="Arial"/>
              </a:defRPr>
            </a:pPr>
            <a:r>
              <a:t>2026</a:t>
            </a:r>
          </a:p>
        </p:txBody>
      </p:sp>
      <p:sp>
        <p:nvSpPr>
          <p:cNvPr id="42" name="TextBox 41"/>
          <p:cNvSpPr txBox="1"/>
          <p:nvPr/>
        </p:nvSpPr>
        <p:spPr>
          <a:xfrm>
            <a:off x="2369820" y="4775200"/>
            <a:ext cx="570674" cy="317500"/>
          </a:xfrm>
          <a:prstGeom prst="rect">
            <a:avLst/>
          </a:prstGeom>
          <a:noFill/>
        </p:spPr>
        <p:txBody>
          <a:bodyPr wrap="none" lIns="0" rIns="0" tIns="0" bIns="0">
            <a:spAutoFit/>
          </a:bodyPr>
          <a:lstStyle/>
          <a:p>
            <a:pPr>
              <a:lnSpc>
                <a:spcPts val="1230"/>
              </a:lnSpc>
              <a:spcBef>
                <a:spcPts val="0"/>
              </a:spcBef>
              <a:spcAft>
                <a:spcPts val="0"/>
              </a:spcAft>
              <a:defRPr sz="1000" b="0">
                <a:solidFill>
                  <a:srgbClr val="142A40"/>
                </a:solidFill>
                <a:latin typeface="Arial"/>
              </a:defRPr>
            </a:pPr>
            <a:r>
              <a:t>2028</a:t>
            </a:r>
          </a:p>
        </p:txBody>
      </p:sp>
      <p:sp>
        <p:nvSpPr>
          <p:cNvPr id="43" name="TextBox 42"/>
          <p:cNvSpPr txBox="1"/>
          <p:nvPr/>
        </p:nvSpPr>
        <p:spPr>
          <a:xfrm>
            <a:off x="2970529" y="4775200"/>
            <a:ext cx="570674" cy="317500"/>
          </a:xfrm>
          <a:prstGeom prst="rect">
            <a:avLst/>
          </a:prstGeom>
          <a:noFill/>
        </p:spPr>
        <p:txBody>
          <a:bodyPr wrap="none" lIns="0" rIns="0" tIns="0" bIns="0">
            <a:spAutoFit/>
          </a:bodyPr>
          <a:lstStyle/>
          <a:p>
            <a:pPr>
              <a:lnSpc>
                <a:spcPts val="1230"/>
              </a:lnSpc>
              <a:spcBef>
                <a:spcPts val="0"/>
              </a:spcBef>
              <a:spcAft>
                <a:spcPts val="0"/>
              </a:spcAft>
              <a:defRPr sz="1000" b="0">
                <a:solidFill>
                  <a:srgbClr val="142A40"/>
                </a:solidFill>
                <a:latin typeface="Arial"/>
              </a:defRPr>
            </a:pPr>
            <a:r>
              <a:t>2030</a:t>
            </a:r>
          </a:p>
        </p:txBody>
      </p:sp>
      <p:sp>
        <p:nvSpPr>
          <p:cNvPr id="44" name="TextBox 43"/>
          <p:cNvSpPr txBox="1"/>
          <p:nvPr/>
        </p:nvSpPr>
        <p:spPr>
          <a:xfrm>
            <a:off x="3571240" y="4775200"/>
            <a:ext cx="570674" cy="317500"/>
          </a:xfrm>
          <a:prstGeom prst="rect">
            <a:avLst/>
          </a:prstGeom>
          <a:noFill/>
        </p:spPr>
        <p:txBody>
          <a:bodyPr wrap="none" lIns="0" rIns="0" tIns="0" bIns="0">
            <a:spAutoFit/>
          </a:bodyPr>
          <a:lstStyle/>
          <a:p>
            <a:pPr>
              <a:lnSpc>
                <a:spcPts val="1230"/>
              </a:lnSpc>
              <a:spcBef>
                <a:spcPts val="0"/>
              </a:spcBef>
              <a:spcAft>
                <a:spcPts val="0"/>
              </a:spcAft>
              <a:defRPr sz="1000" b="0">
                <a:solidFill>
                  <a:srgbClr val="142A40"/>
                </a:solidFill>
                <a:latin typeface="Arial"/>
              </a:defRPr>
            </a:pPr>
            <a:r>
              <a:t>2032</a:t>
            </a:r>
          </a:p>
        </p:txBody>
      </p:sp>
      <p:sp>
        <p:nvSpPr>
          <p:cNvPr id="45" name="TextBox 44"/>
          <p:cNvSpPr txBox="1"/>
          <p:nvPr/>
        </p:nvSpPr>
        <p:spPr>
          <a:xfrm>
            <a:off x="4171950" y="4775200"/>
            <a:ext cx="570674" cy="317500"/>
          </a:xfrm>
          <a:prstGeom prst="rect">
            <a:avLst/>
          </a:prstGeom>
          <a:noFill/>
        </p:spPr>
        <p:txBody>
          <a:bodyPr wrap="none" lIns="0" rIns="0" tIns="0" bIns="0">
            <a:spAutoFit/>
          </a:bodyPr>
          <a:lstStyle/>
          <a:p>
            <a:pPr>
              <a:lnSpc>
                <a:spcPts val="1230"/>
              </a:lnSpc>
              <a:spcBef>
                <a:spcPts val="0"/>
              </a:spcBef>
              <a:spcAft>
                <a:spcPts val="0"/>
              </a:spcAft>
              <a:defRPr sz="1000" b="0">
                <a:solidFill>
                  <a:srgbClr val="142A40"/>
                </a:solidFill>
                <a:latin typeface="Arial"/>
              </a:defRPr>
            </a:pPr>
            <a:r>
              <a:t>2034</a:t>
            </a:r>
          </a:p>
        </p:txBody>
      </p:sp>
      <p:sp>
        <p:nvSpPr>
          <p:cNvPr id="46" name="TextBox 45"/>
          <p:cNvSpPr txBox="1"/>
          <p:nvPr/>
        </p:nvSpPr>
        <p:spPr>
          <a:xfrm>
            <a:off x="4772659" y="4775200"/>
            <a:ext cx="570674" cy="317500"/>
          </a:xfrm>
          <a:prstGeom prst="rect">
            <a:avLst/>
          </a:prstGeom>
          <a:noFill/>
        </p:spPr>
        <p:txBody>
          <a:bodyPr wrap="none" lIns="0" rIns="0" tIns="0" bIns="0">
            <a:spAutoFit/>
          </a:bodyPr>
          <a:lstStyle/>
          <a:p>
            <a:pPr>
              <a:lnSpc>
                <a:spcPts val="1230"/>
              </a:lnSpc>
              <a:spcBef>
                <a:spcPts val="0"/>
              </a:spcBef>
              <a:spcAft>
                <a:spcPts val="0"/>
              </a:spcAft>
              <a:defRPr sz="1000" b="0">
                <a:solidFill>
                  <a:srgbClr val="142A40"/>
                </a:solidFill>
                <a:latin typeface="Arial"/>
              </a:defRPr>
            </a:pPr>
            <a:r>
              <a:t>2036</a:t>
            </a:r>
          </a:p>
        </p:txBody>
      </p:sp>
      <p:sp>
        <p:nvSpPr>
          <p:cNvPr id="47" name="TextBox 46"/>
          <p:cNvSpPr txBox="1"/>
          <p:nvPr/>
        </p:nvSpPr>
        <p:spPr>
          <a:xfrm>
            <a:off x="5373370" y="4775200"/>
            <a:ext cx="570674" cy="317500"/>
          </a:xfrm>
          <a:prstGeom prst="rect">
            <a:avLst/>
          </a:prstGeom>
          <a:noFill/>
        </p:spPr>
        <p:txBody>
          <a:bodyPr wrap="none" lIns="0" rIns="0" tIns="0" bIns="0">
            <a:spAutoFit/>
          </a:bodyPr>
          <a:lstStyle/>
          <a:p>
            <a:pPr>
              <a:lnSpc>
                <a:spcPts val="1230"/>
              </a:lnSpc>
              <a:spcBef>
                <a:spcPts val="0"/>
              </a:spcBef>
              <a:spcAft>
                <a:spcPts val="0"/>
              </a:spcAft>
              <a:defRPr sz="1000" b="0">
                <a:solidFill>
                  <a:srgbClr val="142A40"/>
                </a:solidFill>
                <a:latin typeface="Arial"/>
              </a:defRPr>
            </a:pPr>
            <a:r>
              <a:t>2038</a:t>
            </a:r>
          </a:p>
        </p:txBody>
      </p:sp>
      <p:sp>
        <p:nvSpPr>
          <p:cNvPr id="48" name="TextBox 47"/>
          <p:cNvSpPr txBox="1"/>
          <p:nvPr/>
        </p:nvSpPr>
        <p:spPr>
          <a:xfrm>
            <a:off x="5974080" y="4775200"/>
            <a:ext cx="570674" cy="317500"/>
          </a:xfrm>
          <a:prstGeom prst="rect">
            <a:avLst/>
          </a:prstGeom>
          <a:noFill/>
        </p:spPr>
        <p:txBody>
          <a:bodyPr wrap="none" lIns="0" rIns="0" tIns="0" bIns="0">
            <a:spAutoFit/>
          </a:bodyPr>
          <a:lstStyle/>
          <a:p>
            <a:pPr>
              <a:lnSpc>
                <a:spcPts val="1230"/>
              </a:lnSpc>
              <a:spcBef>
                <a:spcPts val="0"/>
              </a:spcBef>
              <a:spcAft>
                <a:spcPts val="0"/>
              </a:spcAft>
              <a:defRPr sz="1000" b="0">
                <a:solidFill>
                  <a:srgbClr val="142A40"/>
                </a:solidFill>
                <a:latin typeface="Arial"/>
              </a:defRPr>
            </a:pPr>
            <a:r>
              <a:t>2040</a:t>
            </a:r>
          </a:p>
        </p:txBody>
      </p:sp>
      <p:sp>
        <p:nvSpPr>
          <p:cNvPr id="49" name="TextBox 48"/>
          <p:cNvSpPr txBox="1"/>
          <p:nvPr/>
        </p:nvSpPr>
        <p:spPr>
          <a:xfrm>
            <a:off x="6875144" y="4775200"/>
            <a:ext cx="570674" cy="317500"/>
          </a:xfrm>
          <a:prstGeom prst="rect">
            <a:avLst/>
          </a:prstGeom>
          <a:noFill/>
        </p:spPr>
        <p:txBody>
          <a:bodyPr wrap="none" lIns="0" rIns="0" tIns="0" bIns="0">
            <a:spAutoFit/>
          </a:bodyPr>
          <a:lstStyle/>
          <a:p>
            <a:pPr>
              <a:lnSpc>
                <a:spcPts val="1230"/>
              </a:lnSpc>
              <a:spcBef>
                <a:spcPts val="0"/>
              </a:spcBef>
              <a:spcAft>
                <a:spcPts val="0"/>
              </a:spcAft>
              <a:defRPr sz="1000" b="0">
                <a:solidFill>
                  <a:srgbClr val="142A40"/>
                </a:solidFill>
                <a:latin typeface="Arial"/>
              </a:defRPr>
            </a:pPr>
            <a:r>
              <a:t>2043</a:t>
            </a:r>
          </a:p>
        </p:txBody>
      </p:sp>
      <p:sp>
        <p:nvSpPr>
          <p:cNvPr id="50" name="Rectangle 49"/>
          <p:cNvSpPr/>
          <p:nvPr/>
        </p:nvSpPr>
        <p:spPr>
          <a:xfrm>
            <a:off x="7747000" y="2844800"/>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001000" y="2755900"/>
            <a:ext cx="3365500" cy="1123950"/>
          </a:xfrm>
          <a:prstGeom prst="rect">
            <a:avLst/>
          </a:prstGeom>
          <a:noFill/>
        </p:spPr>
        <p:txBody>
          <a:bodyPr wrap="none" lIns="0" rIns="0" tIns="0" bIns="0">
            <a:spAutoFit/>
          </a:bodyPr>
          <a:lstStyle/>
          <a:p>
            <a:pPr>
              <a:lnSpc>
                <a:spcPts val="2214"/>
              </a:lnSpc>
              <a:spcBef>
                <a:spcPts val="0"/>
              </a:spcBef>
              <a:spcAft>
                <a:spcPts val="0"/>
              </a:spcAft>
              <a:defRPr sz="1800" b="0">
                <a:solidFill>
                  <a:srgbClr val="142A40"/>
                </a:solidFill>
                <a:latin typeface="Arial"/>
              </a:defRPr>
            </a:pPr>
            <a:r>
              <a:t>Reported player payments: $2m</a:t>
            </a:r>
          </a:p>
          <a:p>
            <a:pPr>
              <a:lnSpc>
                <a:spcPts val="2214"/>
              </a:lnSpc>
              <a:spcBef>
                <a:spcPts val="0"/>
              </a:spcBef>
              <a:spcAft>
                <a:spcPts val="0"/>
              </a:spcAft>
              <a:defRPr sz="1800" b="0">
                <a:solidFill>
                  <a:srgbClr val="142A40"/>
                </a:solidFill>
                <a:latin typeface="Arial"/>
              </a:defRPr>
            </a:pPr>
            <a:r>
              <a:t>annually in 2024-33; $68m</a:t>
            </a:r>
          </a:p>
          <a:p>
            <a:pPr>
              <a:lnSpc>
                <a:spcPts val="2214"/>
              </a:lnSpc>
              <a:spcBef>
                <a:spcPts val="0"/>
              </a:spcBef>
              <a:spcAft>
                <a:spcPts val="0"/>
              </a:spcAft>
              <a:defRPr sz="1800" b="0">
                <a:solidFill>
                  <a:srgbClr val="142A40"/>
                </a:solidFill>
                <a:latin typeface="Arial"/>
              </a:defRPr>
            </a:pPr>
            <a:r>
              <a:t>annually in 2034-43. USD.</a:t>
            </a:r>
          </a:p>
        </p:txBody>
      </p:sp>
      <p:sp>
        <p:nvSpPr>
          <p:cNvPr id="52" name="Rectangle 51"/>
          <p:cNvSpPr/>
          <p:nvPr/>
        </p:nvSpPr>
        <p:spPr>
          <a:xfrm>
            <a:off x="7747000" y="4197350"/>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01000" y="4108450"/>
            <a:ext cx="3365500" cy="1123950"/>
          </a:xfrm>
          <a:prstGeom prst="rect">
            <a:avLst/>
          </a:prstGeom>
          <a:noFill/>
        </p:spPr>
        <p:txBody>
          <a:bodyPr wrap="none" lIns="0" rIns="0" tIns="0" bIns="0">
            <a:spAutoFit/>
          </a:bodyPr>
          <a:lstStyle/>
          <a:p>
            <a:pPr>
              <a:lnSpc>
                <a:spcPts val="2214"/>
              </a:lnSpc>
              <a:spcBef>
                <a:spcPts val="0"/>
              </a:spcBef>
              <a:spcAft>
                <a:spcPts val="0"/>
              </a:spcAft>
              <a:defRPr sz="1800" b="0">
                <a:solidFill>
                  <a:srgbClr val="142A40"/>
                </a:solidFill>
                <a:latin typeface="Arial"/>
              </a:defRPr>
            </a:pPr>
            <a:r>
              <a:t>Reported CBT payroll charge:</a:t>
            </a:r>
          </a:p>
          <a:p>
            <a:pPr>
              <a:lnSpc>
                <a:spcPts val="2214"/>
              </a:lnSpc>
              <a:spcBef>
                <a:spcPts val="0"/>
              </a:spcBef>
              <a:spcAft>
                <a:spcPts val="0"/>
              </a:spcAft>
              <a:defRPr sz="1800" b="0">
                <a:solidFill>
                  <a:srgbClr val="142A40"/>
                </a:solidFill>
                <a:latin typeface="Arial"/>
              </a:defRPr>
            </a:pPr>
            <a:r>
              <a:t>approximately $46m annually.</a:t>
            </a:r>
          </a:p>
          <a:p>
            <a:pPr>
              <a:lnSpc>
                <a:spcPts val="2214"/>
              </a:lnSpc>
              <a:spcBef>
                <a:spcPts val="0"/>
              </a:spcBef>
              <a:spcAft>
                <a:spcPts val="0"/>
              </a:spcAft>
              <a:defRPr sz="1800" b="0">
                <a:solidFill>
                  <a:srgbClr val="142A40"/>
                </a:solidFill>
                <a:latin typeface="Arial"/>
              </a:defRPr>
            </a:pPr>
            <a:r>
              <a:t>Funding reserves and CBT cash</a:t>
            </a:r>
          </a:p>
          <a:p>
            <a:pPr>
              <a:lnSpc>
                <a:spcPts val="2214"/>
              </a:lnSpc>
              <a:spcBef>
                <a:spcPts val="0"/>
              </a:spcBef>
              <a:spcAft>
                <a:spcPts val="0"/>
              </a:spcAft>
              <a:defRPr sz="1800" b="0">
                <a:solidFill>
                  <a:srgbClr val="142A40"/>
                </a:solidFill>
                <a:latin typeface="Arial"/>
              </a:defRPr>
            </a:pPr>
            <a:r>
              <a:t>tax are separate.</a:t>
            </a:r>
          </a:p>
        </p:txBody>
      </p:sp>
      <p:sp>
        <p:nvSpPr>
          <p:cNvPr id="54" name="TextBox 53"/>
          <p:cNvSpPr txBox="1"/>
          <p:nvPr/>
        </p:nvSpPr>
        <p:spPr>
          <a:xfrm>
            <a:off x="609600" y="5588000"/>
            <a:ext cx="10795000" cy="444500"/>
          </a:xfrm>
          <a:prstGeom prst="rect">
            <a:avLst/>
          </a:prstGeom>
          <a:noFill/>
        </p:spPr>
        <p:txBody>
          <a:bodyPr wrap="none" lIns="0" rIns="0" tIns="0" bIns="0">
            <a:spAutoFit/>
          </a:bodyPr>
          <a:lstStyle/>
          <a:p>
            <a:pPr>
              <a:lnSpc>
                <a:spcPts val="1353"/>
              </a:lnSpc>
              <a:spcBef>
                <a:spcPts val="0"/>
              </a:spcBef>
              <a:spcAft>
                <a:spcPts val="0"/>
              </a:spcAft>
              <a:defRPr sz="1100" b="0">
                <a:solidFill>
                  <a:srgbClr val="506274"/>
                </a:solidFill>
                <a:latin typeface="Arial"/>
              </a:defRPr>
            </a:pPr>
            <a:r>
              <a:t>Illustrative calendar-year-end timing; 2024-2033 service, 2034-2043 deferred payments.</a:t>
            </a:r>
          </a:p>
        </p:txBody>
      </p:sp>
      <p:sp>
        <p:nvSpPr>
          <p:cNvPr id="55" name="TextBox 54"/>
          <p:cNvSpPr txBox="1"/>
          <p:nvPr/>
        </p:nvSpPr>
        <p:spPr>
          <a:xfrm>
            <a:off x="609600" y="6070600"/>
            <a:ext cx="10642600"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rPr>
                <a:hlinkClick r:id="rId2"/>
              </a:rPr>
              <a:t>[MLB1] www.mlb.com</a:t>
            </a:r>
          </a:p>
        </p:txBody>
      </p:sp>
      <p:cxnSp>
        <p:nvCxnSpPr>
          <p:cNvPr id="56" name="Connector 55"/>
          <p:cNvCxnSpPr/>
          <p:nvPr/>
        </p:nvCxnSpPr>
        <p:spPr>
          <a:xfrm>
            <a:off x="609600" y="6515100"/>
            <a:ext cx="10795000" cy="0"/>
          </a:xfrm>
          <a:prstGeom prst="line">
            <a:avLst/>
          </a:prstGeom>
          <a:ln w="12700">
            <a:solidFill>
              <a:srgbClr val="DDEDEE"/>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ORIGINAL-DECISION ILLUSTRATION | assumptions and exclusions apply</a:t>
            </a:r>
          </a:p>
        </p:txBody>
      </p:sp>
      <p:sp>
        <p:nvSpPr>
          <p:cNvPr id="58" name="TextBox 57"/>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506274"/>
                </a:solidFill>
                <a:latin typeface="Arial"/>
              </a:defRPr>
            </a:pPr>
            <a:r>
              <a:t>AGENCY LEADERSHIP | USD | EVIDENCE CUTOFF OCTOBER 13, 2026</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142A40"/>
                </a:solidFill>
                <a:latin typeface="Arial"/>
              </a:defRPr>
            </a:pPr>
            <a:r>
              <a:t>Original-decision model | show the date</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506274"/>
                </a:solidFill>
                <a:latin typeface="Arial"/>
              </a:defRPr>
            </a:pPr>
            <a:r>
              <a:t>Payment PV depends on the assumed discount rate.</a:t>
            </a:r>
          </a:p>
        </p:txBody>
      </p:sp>
      <p:sp>
        <p:nvSpPr>
          <p:cNvPr id="7" name="TextBox 6"/>
          <p:cNvSpPr txBox="1"/>
          <p:nvPr/>
        </p:nvSpPr>
        <p:spPr>
          <a:xfrm>
            <a:off x="609600" y="2603500"/>
            <a:ext cx="6731000" cy="317500"/>
          </a:xfrm>
          <a:prstGeom prst="rect">
            <a:avLst/>
          </a:prstGeom>
          <a:noFill/>
        </p:spPr>
        <p:txBody>
          <a:bodyPr wrap="none" lIns="0" rIns="0" tIns="0" bIns="0">
            <a:spAutoFit/>
          </a:bodyPr>
          <a:lstStyle/>
          <a:p>
            <a:pPr>
              <a:lnSpc>
                <a:spcPts val="1968"/>
              </a:lnSpc>
              <a:spcBef>
                <a:spcPts val="0"/>
              </a:spcBef>
              <a:spcAft>
                <a:spcPts val="0"/>
              </a:spcAft>
              <a:defRPr sz="1600" b="1">
                <a:solidFill>
                  <a:srgbClr val="142A40"/>
                </a:solidFill>
                <a:latin typeface="Arial"/>
              </a:defRPr>
            </a:pPr>
            <a:r>
              <a:t>Original-decision salary-payment DCF</a:t>
            </a:r>
          </a:p>
        </p:txBody>
      </p:sp>
      <p:sp>
        <p:nvSpPr>
          <p:cNvPr id="8" name="TextBox 7"/>
          <p:cNvSpPr txBox="1"/>
          <p:nvPr/>
        </p:nvSpPr>
        <p:spPr>
          <a:xfrm>
            <a:off x="609600" y="2959100"/>
            <a:ext cx="6731000" cy="215900"/>
          </a:xfrm>
          <a:prstGeom prst="rect">
            <a:avLst/>
          </a:prstGeom>
          <a:noFill/>
        </p:spPr>
        <p:txBody>
          <a:bodyPr wrap="none" lIns="0" rIns="0" tIns="0" bIns="0">
            <a:spAutoFit/>
          </a:bodyPr>
          <a:lstStyle/>
          <a:p>
            <a:pPr>
              <a:lnSpc>
                <a:spcPts val="1230"/>
              </a:lnSpc>
              <a:spcBef>
                <a:spcPts val="0"/>
              </a:spcBef>
              <a:spcAft>
                <a:spcPts val="0"/>
              </a:spcAft>
              <a:defRPr sz="1000" b="0">
                <a:solidFill>
                  <a:srgbClr val="506274"/>
                </a:solidFill>
                <a:latin typeface="Arial"/>
              </a:defRPr>
            </a:pPr>
            <a:r>
              <a:t>USD millions</a:t>
            </a:r>
          </a:p>
        </p:txBody>
      </p:sp>
      <p:cxnSp>
        <p:nvCxnSpPr>
          <p:cNvPr id="9" name="Connector 8"/>
          <p:cNvCxnSpPr/>
          <p:nvPr/>
        </p:nvCxnSpPr>
        <p:spPr>
          <a:xfrm>
            <a:off x="1168400" y="4660900"/>
            <a:ext cx="6007100" cy="0"/>
          </a:xfrm>
          <a:prstGeom prst="line">
            <a:avLst/>
          </a:prstGeom>
          <a:ln w="7620">
            <a:solidFill>
              <a:srgbClr val="DCE2E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4584700"/>
            <a:ext cx="482600" cy="1905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0</a:t>
            </a:r>
          </a:p>
        </p:txBody>
      </p:sp>
      <p:cxnSp>
        <p:nvCxnSpPr>
          <p:cNvPr id="11" name="Connector 10"/>
          <p:cNvCxnSpPr/>
          <p:nvPr/>
        </p:nvCxnSpPr>
        <p:spPr>
          <a:xfrm>
            <a:off x="1168400" y="4250266"/>
            <a:ext cx="6007100" cy="0"/>
          </a:xfrm>
          <a:prstGeom prst="line">
            <a:avLst/>
          </a:prstGeom>
          <a:ln w="7620">
            <a:solidFill>
              <a:srgbClr val="DCE2E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9600" y="4174066"/>
            <a:ext cx="482600" cy="1905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200</a:t>
            </a:r>
          </a:p>
        </p:txBody>
      </p:sp>
      <p:cxnSp>
        <p:nvCxnSpPr>
          <p:cNvPr id="13" name="Connector 12"/>
          <p:cNvCxnSpPr/>
          <p:nvPr/>
        </p:nvCxnSpPr>
        <p:spPr>
          <a:xfrm>
            <a:off x="1168400" y="3839633"/>
            <a:ext cx="6007100" cy="0"/>
          </a:xfrm>
          <a:prstGeom prst="line">
            <a:avLst/>
          </a:prstGeom>
          <a:ln w="7620">
            <a:solidFill>
              <a:srgbClr val="DCE2E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09600" y="3763433"/>
            <a:ext cx="482600" cy="1905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400</a:t>
            </a:r>
          </a:p>
        </p:txBody>
      </p:sp>
      <p:cxnSp>
        <p:nvCxnSpPr>
          <p:cNvPr id="15" name="Connector 14"/>
          <p:cNvCxnSpPr/>
          <p:nvPr/>
        </p:nvCxnSpPr>
        <p:spPr>
          <a:xfrm>
            <a:off x="1168400" y="3429000"/>
            <a:ext cx="6007100" cy="0"/>
          </a:xfrm>
          <a:prstGeom prst="line">
            <a:avLst/>
          </a:prstGeom>
          <a:ln w="7620">
            <a:solidFill>
              <a:srgbClr val="DCE2E7"/>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3352800"/>
            <a:ext cx="482600" cy="1905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600</a:t>
            </a:r>
          </a:p>
        </p:txBody>
      </p:sp>
      <p:cxnSp>
        <p:nvCxnSpPr>
          <p:cNvPr id="17" name="Connector 16"/>
          <p:cNvCxnSpPr/>
          <p:nvPr/>
        </p:nvCxnSpPr>
        <p:spPr>
          <a:xfrm>
            <a:off x="1168400" y="4660900"/>
            <a:ext cx="6007100" cy="0"/>
          </a:xfrm>
          <a:prstGeom prst="line">
            <a:avLst/>
          </a:prstGeom>
          <a:ln w="12700">
            <a:solidFill>
              <a:srgbClr val="506274"/>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528826" y="3739695"/>
            <a:ext cx="1178993" cy="921204"/>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68636" y="3511095"/>
            <a:ext cx="1601893" cy="190500"/>
          </a:xfrm>
          <a:prstGeom prst="rect">
            <a:avLst/>
          </a:prstGeom>
          <a:noFill/>
        </p:spPr>
        <p:txBody>
          <a:bodyPr wrap="none" lIns="0" rIns="0" tIns="0" bIns="0">
            <a:spAutoFit/>
          </a:bodyPr>
          <a:lstStyle/>
          <a:p>
            <a:pPr>
              <a:lnSpc>
                <a:spcPts val="1230"/>
              </a:lnSpc>
              <a:spcBef>
                <a:spcPts val="0"/>
              </a:spcBef>
              <a:spcAft>
                <a:spcPts val="0"/>
              </a:spcAft>
              <a:defRPr sz="1000" b="1">
                <a:solidFill>
                  <a:srgbClr val="142A40"/>
                </a:solidFill>
                <a:latin typeface="Arial"/>
              </a:defRPr>
            </a:pPr>
            <a:r>
              <a:t>448.7</a:t>
            </a:r>
          </a:p>
        </p:txBody>
      </p:sp>
      <p:sp>
        <p:nvSpPr>
          <p:cNvPr id="20" name="Rectangle 19"/>
          <p:cNvSpPr/>
          <p:nvPr/>
        </p:nvSpPr>
        <p:spPr>
          <a:xfrm>
            <a:off x="3531192" y="3967348"/>
            <a:ext cx="1178993" cy="693551"/>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71003" y="3738748"/>
            <a:ext cx="1601893" cy="190500"/>
          </a:xfrm>
          <a:prstGeom prst="rect">
            <a:avLst/>
          </a:prstGeom>
          <a:noFill/>
        </p:spPr>
        <p:txBody>
          <a:bodyPr wrap="none" lIns="0" rIns="0" tIns="0" bIns="0">
            <a:spAutoFit/>
          </a:bodyPr>
          <a:lstStyle/>
          <a:p>
            <a:pPr>
              <a:lnSpc>
                <a:spcPts val="1230"/>
              </a:lnSpc>
              <a:spcBef>
                <a:spcPts val="0"/>
              </a:spcBef>
              <a:spcAft>
                <a:spcPts val="0"/>
              </a:spcAft>
              <a:defRPr sz="1000" b="1">
                <a:solidFill>
                  <a:srgbClr val="142A40"/>
                </a:solidFill>
                <a:latin typeface="Arial"/>
              </a:defRPr>
            </a:pPr>
            <a:r>
              <a:t>337.8</a:t>
            </a:r>
          </a:p>
        </p:txBody>
      </p:sp>
      <p:sp>
        <p:nvSpPr>
          <p:cNvPr id="22" name="Rectangle 21"/>
          <p:cNvSpPr/>
          <p:nvPr/>
        </p:nvSpPr>
        <p:spPr>
          <a:xfrm>
            <a:off x="5533559" y="4133571"/>
            <a:ext cx="1178993" cy="527328"/>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73370" y="3904971"/>
            <a:ext cx="1601893" cy="190500"/>
          </a:xfrm>
          <a:prstGeom prst="rect">
            <a:avLst/>
          </a:prstGeom>
          <a:noFill/>
        </p:spPr>
        <p:txBody>
          <a:bodyPr wrap="none" lIns="0" rIns="0" tIns="0" bIns="0">
            <a:spAutoFit/>
          </a:bodyPr>
          <a:lstStyle/>
          <a:p>
            <a:pPr>
              <a:lnSpc>
                <a:spcPts val="1230"/>
              </a:lnSpc>
              <a:spcBef>
                <a:spcPts val="0"/>
              </a:spcBef>
              <a:spcAft>
                <a:spcPts val="0"/>
              </a:spcAft>
              <a:defRPr sz="1000" b="1">
                <a:solidFill>
                  <a:srgbClr val="142A40"/>
                </a:solidFill>
                <a:latin typeface="Arial"/>
              </a:defRPr>
            </a:pPr>
            <a:r>
              <a:t>256.8</a:t>
            </a:r>
          </a:p>
        </p:txBody>
      </p:sp>
      <p:sp>
        <p:nvSpPr>
          <p:cNvPr id="24" name="TextBox 23"/>
          <p:cNvSpPr txBox="1"/>
          <p:nvPr/>
        </p:nvSpPr>
        <p:spPr>
          <a:xfrm>
            <a:off x="1168400" y="4775200"/>
            <a:ext cx="1902248" cy="317500"/>
          </a:xfrm>
          <a:prstGeom prst="rect">
            <a:avLst/>
          </a:prstGeom>
          <a:noFill/>
        </p:spPr>
        <p:txBody>
          <a:bodyPr wrap="none" lIns="0" rIns="0" tIns="0" bIns="0">
            <a:spAutoFit/>
          </a:bodyPr>
          <a:lstStyle/>
          <a:p>
            <a:pPr>
              <a:lnSpc>
                <a:spcPts val="1230"/>
              </a:lnSpc>
              <a:spcBef>
                <a:spcPts val="0"/>
              </a:spcBef>
              <a:spcAft>
                <a:spcPts val="0"/>
              </a:spcAft>
              <a:defRPr sz="1000" b="0">
                <a:solidFill>
                  <a:srgbClr val="142A40"/>
                </a:solidFill>
                <a:latin typeface="Arial"/>
              </a:defRPr>
            </a:pPr>
            <a:r>
              <a:t>3%</a:t>
            </a:r>
          </a:p>
        </p:txBody>
      </p:sp>
      <p:sp>
        <p:nvSpPr>
          <p:cNvPr id="25" name="TextBox 24"/>
          <p:cNvSpPr txBox="1"/>
          <p:nvPr/>
        </p:nvSpPr>
        <p:spPr>
          <a:xfrm>
            <a:off x="3170766" y="4775200"/>
            <a:ext cx="1902248" cy="317500"/>
          </a:xfrm>
          <a:prstGeom prst="rect">
            <a:avLst/>
          </a:prstGeom>
          <a:noFill/>
        </p:spPr>
        <p:txBody>
          <a:bodyPr wrap="none" lIns="0" rIns="0" tIns="0" bIns="0">
            <a:spAutoFit/>
          </a:bodyPr>
          <a:lstStyle/>
          <a:p>
            <a:pPr>
              <a:lnSpc>
                <a:spcPts val="1230"/>
              </a:lnSpc>
              <a:spcBef>
                <a:spcPts val="0"/>
              </a:spcBef>
              <a:spcAft>
                <a:spcPts val="0"/>
              </a:spcAft>
              <a:defRPr sz="1000" b="0">
                <a:solidFill>
                  <a:srgbClr val="142A40"/>
                </a:solidFill>
                <a:latin typeface="Arial"/>
              </a:defRPr>
            </a:pPr>
            <a:r>
              <a:t>5%</a:t>
            </a:r>
          </a:p>
        </p:txBody>
      </p:sp>
      <p:sp>
        <p:nvSpPr>
          <p:cNvPr id="26" name="TextBox 25"/>
          <p:cNvSpPr txBox="1"/>
          <p:nvPr/>
        </p:nvSpPr>
        <p:spPr>
          <a:xfrm>
            <a:off x="5173133" y="4775200"/>
            <a:ext cx="1902248" cy="317500"/>
          </a:xfrm>
          <a:prstGeom prst="rect">
            <a:avLst/>
          </a:prstGeom>
          <a:noFill/>
        </p:spPr>
        <p:txBody>
          <a:bodyPr wrap="none" lIns="0" rIns="0" tIns="0" bIns="0">
            <a:spAutoFit/>
          </a:bodyPr>
          <a:lstStyle/>
          <a:p>
            <a:pPr>
              <a:lnSpc>
                <a:spcPts val="1230"/>
              </a:lnSpc>
              <a:spcBef>
                <a:spcPts val="0"/>
              </a:spcBef>
              <a:spcAft>
                <a:spcPts val="0"/>
              </a:spcAft>
              <a:defRPr sz="1000" b="0">
                <a:solidFill>
                  <a:srgbClr val="142A40"/>
                </a:solidFill>
                <a:latin typeface="Arial"/>
              </a:defRPr>
            </a:pPr>
            <a:r>
              <a:t>7%</a:t>
            </a:r>
          </a:p>
        </p:txBody>
      </p:sp>
      <p:sp>
        <p:nvSpPr>
          <p:cNvPr id="27" name="Rectangle 26"/>
          <p:cNvSpPr/>
          <p:nvPr/>
        </p:nvSpPr>
        <p:spPr>
          <a:xfrm>
            <a:off x="7747000" y="2844800"/>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01000" y="2755900"/>
            <a:ext cx="3365500" cy="1123950"/>
          </a:xfrm>
          <a:prstGeom prst="rect">
            <a:avLst/>
          </a:prstGeom>
          <a:noFill/>
        </p:spPr>
        <p:txBody>
          <a:bodyPr wrap="none" lIns="0" rIns="0" tIns="0" bIns="0">
            <a:spAutoFit/>
          </a:bodyPr>
          <a:lstStyle/>
          <a:p>
            <a:pPr>
              <a:lnSpc>
                <a:spcPts val="2214"/>
              </a:lnSpc>
              <a:spcBef>
                <a:spcPts val="0"/>
              </a:spcBef>
              <a:spcAft>
                <a:spcPts val="0"/>
              </a:spcAft>
              <a:defRPr sz="1800" b="0">
                <a:solidFill>
                  <a:srgbClr val="142A40"/>
                </a:solidFill>
                <a:latin typeface="Arial"/>
              </a:defRPr>
            </a:pPr>
            <a:r>
              <a:t>December 31, 2023 illustration:</a:t>
            </a:r>
          </a:p>
          <a:p>
            <a:pPr>
              <a:lnSpc>
                <a:spcPts val="2214"/>
              </a:lnSpc>
              <a:spcBef>
                <a:spcPts val="0"/>
              </a:spcBef>
              <a:spcAft>
                <a:spcPts val="0"/>
              </a:spcAft>
              <a:defRPr sz="1800" b="0">
                <a:solidFill>
                  <a:srgbClr val="142A40"/>
                </a:solidFill>
                <a:latin typeface="Arial"/>
              </a:defRPr>
            </a:pPr>
            <a:r>
              <a:t>nominal pretax USD, year-end</a:t>
            </a:r>
          </a:p>
          <a:p>
            <a:pPr>
              <a:lnSpc>
                <a:spcPts val="2214"/>
              </a:lnSpc>
              <a:spcBef>
                <a:spcPts val="0"/>
              </a:spcBef>
              <a:spcAft>
                <a:spcPts val="0"/>
              </a:spcAft>
              <a:defRPr sz="1800" b="0">
                <a:solidFill>
                  <a:srgbClr val="142A40"/>
                </a:solidFill>
                <a:latin typeface="Arial"/>
              </a:defRPr>
            </a:pPr>
            <a:r>
              <a:t>payments; discount rates are</a:t>
            </a:r>
          </a:p>
          <a:p>
            <a:pPr>
              <a:lnSpc>
                <a:spcPts val="2214"/>
              </a:lnSpc>
              <a:spcBef>
                <a:spcPts val="0"/>
              </a:spcBef>
              <a:spcAft>
                <a:spcPts val="0"/>
              </a:spcAft>
              <a:defRPr sz="1800" b="0">
                <a:solidFill>
                  <a:srgbClr val="142A40"/>
                </a:solidFill>
                <a:latin typeface="Arial"/>
              </a:defRPr>
            </a:pPr>
            <a:r>
              <a:t>assumptions.</a:t>
            </a:r>
          </a:p>
        </p:txBody>
      </p:sp>
      <p:sp>
        <p:nvSpPr>
          <p:cNvPr id="29" name="Rectangle 28"/>
          <p:cNvSpPr/>
          <p:nvPr/>
        </p:nvSpPr>
        <p:spPr>
          <a:xfrm>
            <a:off x="7747000" y="4197350"/>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01000" y="4108450"/>
            <a:ext cx="3365500" cy="1123950"/>
          </a:xfrm>
          <a:prstGeom prst="rect">
            <a:avLst/>
          </a:prstGeom>
          <a:noFill/>
        </p:spPr>
        <p:txBody>
          <a:bodyPr wrap="none" lIns="0" rIns="0" tIns="0" bIns="0">
            <a:spAutoFit/>
          </a:bodyPr>
          <a:lstStyle/>
          <a:p>
            <a:pPr>
              <a:lnSpc>
                <a:spcPts val="2214"/>
              </a:lnSpc>
              <a:spcBef>
                <a:spcPts val="0"/>
              </a:spcBef>
              <a:spcAft>
                <a:spcPts val="0"/>
              </a:spcAft>
              <a:defRPr sz="1800" b="0">
                <a:solidFill>
                  <a:srgbClr val="142A40"/>
                </a:solidFill>
                <a:latin typeface="Arial"/>
              </a:defRPr>
            </a:pPr>
            <a:r>
              <a:t>Salary-payment model excludes</a:t>
            </a:r>
          </a:p>
          <a:p>
            <a:pPr>
              <a:lnSpc>
                <a:spcPts val="2214"/>
              </a:lnSpc>
              <a:spcBef>
                <a:spcPts val="0"/>
              </a:spcBef>
              <a:spcAft>
                <a:spcPts val="0"/>
              </a:spcAft>
              <a:defRPr sz="1800" b="0">
                <a:solidFill>
                  <a:srgbClr val="142A40"/>
                </a:solidFill>
                <a:latin typeface="Arial"/>
              </a:defRPr>
            </a:pPr>
            <a:r>
              <a:t>CBT cash tax, funding liquidity</a:t>
            </a:r>
          </a:p>
          <a:p>
            <a:pPr>
              <a:lnSpc>
                <a:spcPts val="2214"/>
              </a:lnSpc>
              <a:spcBef>
                <a:spcPts val="0"/>
              </a:spcBef>
              <a:spcAft>
                <a:spcPts val="0"/>
              </a:spcAft>
              <a:defRPr sz="1800" b="0">
                <a:solidFill>
                  <a:srgbClr val="142A40"/>
                </a:solidFill>
                <a:latin typeface="Arial"/>
              </a:defRPr>
            </a:pPr>
            <a:r>
              <a:t>and other club costs; not today's</a:t>
            </a:r>
          </a:p>
          <a:p>
            <a:pPr>
              <a:lnSpc>
                <a:spcPts val="2214"/>
              </a:lnSpc>
              <a:spcBef>
                <a:spcPts val="0"/>
              </a:spcBef>
              <a:spcAft>
                <a:spcPts val="0"/>
              </a:spcAft>
              <a:defRPr sz="1800" b="0">
                <a:solidFill>
                  <a:srgbClr val="142A40"/>
                </a:solidFill>
                <a:latin typeface="Arial"/>
              </a:defRPr>
            </a:pPr>
            <a:r>
              <a:t>liability.</a:t>
            </a:r>
          </a:p>
        </p:txBody>
      </p:sp>
      <p:sp>
        <p:nvSpPr>
          <p:cNvPr id="31" name="TextBox 30"/>
          <p:cNvSpPr txBox="1"/>
          <p:nvPr/>
        </p:nvSpPr>
        <p:spPr>
          <a:xfrm>
            <a:off x="609600" y="5588000"/>
            <a:ext cx="10795000" cy="444500"/>
          </a:xfrm>
          <a:prstGeom prst="rect">
            <a:avLst/>
          </a:prstGeom>
          <a:noFill/>
        </p:spPr>
        <p:txBody>
          <a:bodyPr wrap="none" lIns="0" rIns="0" tIns="0" bIns="0">
            <a:spAutoFit/>
          </a:bodyPr>
          <a:lstStyle/>
          <a:p>
            <a:pPr>
              <a:lnSpc>
                <a:spcPts val="1353"/>
              </a:lnSpc>
              <a:spcBef>
                <a:spcPts val="0"/>
              </a:spcBef>
              <a:spcAft>
                <a:spcPts val="0"/>
              </a:spcAft>
              <a:defRPr sz="1100" b="0">
                <a:solidFill>
                  <a:srgbClr val="506274"/>
                </a:solidFill>
                <a:latin typeface="Arial"/>
              </a:defRPr>
            </a:pPr>
            <a:r>
              <a:t>Illustrative value at Dec. 31, 2023. Excludes CBT cash tax, alternative roster costs and other club cash flows.</a:t>
            </a:r>
          </a:p>
        </p:txBody>
      </p:sp>
      <p:sp>
        <p:nvSpPr>
          <p:cNvPr id="32" name="TextBox 31"/>
          <p:cNvSpPr txBox="1"/>
          <p:nvPr/>
        </p:nvSpPr>
        <p:spPr>
          <a:xfrm>
            <a:off x="609600" y="6070600"/>
            <a:ext cx="5245100"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rPr>
                <a:hlinkClick r:id="rId2"/>
              </a:rPr>
              <a:t>[FRED_MODEL] finance.json</a:t>
            </a:r>
          </a:p>
        </p:txBody>
      </p:sp>
      <p:sp>
        <p:nvSpPr>
          <p:cNvPr id="33" name="TextBox 32"/>
          <p:cNvSpPr txBox="1"/>
          <p:nvPr/>
        </p:nvSpPr>
        <p:spPr>
          <a:xfrm>
            <a:off x="6007100" y="6070600"/>
            <a:ext cx="5245100"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rPr>
                <a:hlinkClick r:id="rId3"/>
              </a:rPr>
              <a:t>[MLB1] www.mlb.com</a:t>
            </a:r>
          </a:p>
        </p:txBody>
      </p:sp>
      <p:cxnSp>
        <p:nvCxnSpPr>
          <p:cNvPr id="34" name="Connector 33"/>
          <p:cNvCxnSpPr/>
          <p:nvPr/>
        </p:nvCxnSpPr>
        <p:spPr>
          <a:xfrm>
            <a:off x="609600" y="6515100"/>
            <a:ext cx="10795000" cy="0"/>
          </a:xfrm>
          <a:prstGeom prst="line">
            <a:avLst/>
          </a:prstGeom>
          <a:ln w="12700">
            <a:solidFill>
              <a:srgbClr val="DDEDEE"/>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ORIGINAL-DECISION ILLUSTRATION | assumptions and exclusions apply</a:t>
            </a:r>
          </a:p>
        </p:txBody>
      </p:sp>
      <p:sp>
        <p:nvSpPr>
          <p:cNvPr id="36" name="TextBox 35"/>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506274"/>
                </a:solidFill>
                <a:latin typeface="Arial"/>
              </a:defRPr>
            </a:pPr>
            <a:r>
              <a:t>AGENCY LEADERSHIP | USD | EVIDENCE CUTOFF OCTOBER 13, 2026</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142A40"/>
                </a:solidFill>
                <a:latin typeface="Arial"/>
              </a:defRPr>
            </a:pPr>
            <a:r>
              <a:t>Deferral | cash timing needs a second view</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506274"/>
                </a:solidFill>
                <a:latin typeface="Arial"/>
              </a:defRPr>
            </a:pPr>
            <a:r>
              <a:t>A $2m player payment is not the full annual burden.</a:t>
            </a:r>
          </a:p>
        </p:txBody>
      </p:sp>
      <p:sp>
        <p:nvSpPr>
          <p:cNvPr id="7" name="Rectangle 6"/>
          <p:cNvSpPr/>
          <p:nvPr/>
        </p:nvSpPr>
        <p:spPr>
          <a:xfrm>
            <a:off x="609600" y="2692400"/>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600" y="2603500"/>
            <a:ext cx="10541000" cy="574675"/>
          </a:xfrm>
          <a:prstGeom prst="rect">
            <a:avLst/>
          </a:prstGeom>
          <a:noFill/>
        </p:spPr>
        <p:txBody>
          <a:bodyPr wrap="none" lIns="0" rIns="0" tIns="0" bIns="0">
            <a:spAutoFit/>
          </a:bodyPr>
          <a:lstStyle/>
          <a:p>
            <a:pPr>
              <a:lnSpc>
                <a:spcPts val="2398"/>
              </a:lnSpc>
              <a:spcBef>
                <a:spcPts val="0"/>
              </a:spcBef>
              <a:spcAft>
                <a:spcPts val="0"/>
              </a:spcAft>
              <a:defRPr sz="1950" b="0">
                <a:solidFill>
                  <a:srgbClr val="142A40"/>
                </a:solidFill>
                <a:latin typeface="Arial"/>
              </a:defRPr>
            </a:pPr>
            <a:r>
              <a:t>CBA funding rules require present-value funding by the second July 1 after the earning season.</a:t>
            </a:r>
          </a:p>
        </p:txBody>
      </p:sp>
      <p:sp>
        <p:nvSpPr>
          <p:cNvPr id="9" name="Rectangle 8"/>
          <p:cNvSpPr/>
          <p:nvPr/>
        </p:nvSpPr>
        <p:spPr>
          <a:xfrm>
            <a:off x="609600" y="3495675"/>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340677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142A40"/>
                </a:solidFill>
                <a:latin typeface="Arial"/>
              </a:defRPr>
            </a:pPr>
            <a:r>
              <a:t>Actual reserve balances and funding records were not obtained.</a:t>
            </a:r>
          </a:p>
        </p:txBody>
      </p:sp>
      <p:sp>
        <p:nvSpPr>
          <p:cNvPr id="11" name="Rectangle 10"/>
          <p:cNvSpPr/>
          <p:nvPr/>
        </p:nvSpPr>
        <p:spPr>
          <a:xfrm>
            <a:off x="609600" y="4298950"/>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 y="4210050"/>
            <a:ext cx="10541000" cy="574675"/>
          </a:xfrm>
          <a:prstGeom prst="rect">
            <a:avLst/>
          </a:prstGeom>
          <a:noFill/>
        </p:spPr>
        <p:txBody>
          <a:bodyPr wrap="none" lIns="0" rIns="0" tIns="0" bIns="0">
            <a:spAutoFit/>
          </a:bodyPr>
          <a:lstStyle/>
          <a:p>
            <a:pPr>
              <a:lnSpc>
                <a:spcPts val="2521"/>
              </a:lnSpc>
              <a:spcBef>
                <a:spcPts val="0"/>
              </a:spcBef>
              <a:spcAft>
                <a:spcPts val="0"/>
              </a:spcAft>
              <a:defRPr sz="2050" b="0">
                <a:solidFill>
                  <a:srgbClr val="142A40"/>
                </a:solidFill>
                <a:latin typeface="Arial"/>
              </a:defRPr>
            </a:pPr>
            <a:r>
              <a:t>Reserve allocations and later player payments must not become two compensation costs.</a:t>
            </a:r>
          </a:p>
        </p:txBody>
      </p:sp>
      <p:sp>
        <p:nvSpPr>
          <p:cNvPr id="13" name="Rectangle 12"/>
          <p:cNvSpPr/>
          <p:nvPr/>
        </p:nvSpPr>
        <p:spPr>
          <a:xfrm>
            <a:off x="609600" y="5102225"/>
            <a:ext cx="6350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600" y="501332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142A40"/>
                </a:solidFill>
                <a:latin typeface="Arial"/>
              </a:defRPr>
            </a:pPr>
            <a:r>
              <a:t>Model liquidity separately from the player-payment DCF.</a:t>
            </a:r>
          </a:p>
        </p:txBody>
      </p:sp>
      <p:sp>
        <p:nvSpPr>
          <p:cNvPr id="15" name="TextBox 14"/>
          <p:cNvSpPr txBox="1"/>
          <p:nvPr/>
        </p:nvSpPr>
        <p:spPr>
          <a:xfrm>
            <a:off x="609600" y="6070600"/>
            <a:ext cx="5245100"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rPr>
                <a:hlinkClick r:id="rId2"/>
              </a:rPr>
              <a:t>[CBA1] www.mlbplayers.com</a:t>
            </a:r>
          </a:p>
        </p:txBody>
      </p:sp>
      <p:sp>
        <p:nvSpPr>
          <p:cNvPr id="16" name="TextBox 15"/>
          <p:cNvSpPr txBox="1"/>
          <p:nvPr/>
        </p:nvSpPr>
        <p:spPr>
          <a:xfrm>
            <a:off x="6007100" y="6070600"/>
            <a:ext cx="5245100"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rPr>
                <a:hlinkClick r:id="rId3"/>
              </a:rPr>
              <a:t>[FRED_MODEL] finance.json</a:t>
            </a:r>
          </a:p>
        </p:txBody>
      </p:sp>
      <p:cxnSp>
        <p:nvCxnSpPr>
          <p:cNvPr id="17" name="Connector 16"/>
          <p:cNvCxnSpPr/>
          <p:nvPr/>
        </p:nvCxnSpPr>
        <p:spPr>
          <a:xfrm>
            <a:off x="609600" y="6515100"/>
            <a:ext cx="10795000" cy="0"/>
          </a:xfrm>
          <a:prstGeom prst="line">
            <a:avLst/>
          </a:prstGeom>
          <a:ln w="12700">
            <a:solidFill>
              <a:srgbClr val="DDEDE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ORIGINAL-DECISION ILLUSTRATION | assumptions and exclusions apply</a:t>
            </a:r>
          </a:p>
        </p:txBody>
      </p:sp>
      <p:sp>
        <p:nvSpPr>
          <p:cNvPr id="19" name="TextBox 18"/>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506274"/>
                </a:solidFill>
                <a:latin typeface="Arial"/>
              </a:defRPr>
            </a:pPr>
            <a:r>
              <a:t>AGENCY LEADERSHIP | USD | EVIDENCE CUTOFF OCTOBER 13, 2026</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142A40"/>
                </a:solidFill>
                <a:latin typeface="Arial"/>
              </a:defRPr>
            </a:pPr>
            <a:r>
              <a:t>Club sensitivity | assumptions drive the answer</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506274"/>
                </a:solidFill>
                <a:latin typeface="Arial"/>
              </a:defRPr>
            </a:pPr>
            <a:r>
              <a:t>Receipts must become attributable retained contribution.</a:t>
            </a:r>
          </a:p>
        </p:txBody>
      </p:sp>
      <p:sp>
        <p:nvSpPr>
          <p:cNvPr id="7" name="Rounded Rectangle 6"/>
          <p:cNvSpPr/>
          <p:nvPr/>
        </p:nvSpPr>
        <p:spPr>
          <a:xfrm>
            <a:off x="609600" y="2603500"/>
            <a:ext cx="2508250" cy="2032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600" y="2603500"/>
            <a:ext cx="250825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800" y="2806700"/>
            <a:ext cx="2101850" cy="546100"/>
          </a:xfrm>
          <a:prstGeom prst="rect">
            <a:avLst/>
          </a:prstGeom>
          <a:noFill/>
        </p:spPr>
        <p:txBody>
          <a:bodyPr wrap="none" lIns="0" rIns="0" tIns="0" bIns="0">
            <a:spAutoFit/>
          </a:bodyPr>
          <a:lstStyle/>
          <a:p>
            <a:pPr>
              <a:lnSpc>
                <a:spcPts val="1230"/>
              </a:lnSpc>
              <a:spcBef>
                <a:spcPts val="0"/>
              </a:spcBef>
              <a:spcAft>
                <a:spcPts val="0"/>
              </a:spcAft>
              <a:defRPr sz="1000" b="1">
                <a:solidFill>
                  <a:srgbClr val="506274"/>
                </a:solidFill>
                <a:latin typeface="Arial"/>
              </a:defRPr>
            </a:pPr>
            <a:r>
              <a:t>HYPOTHETICAL GROSS</a:t>
            </a:r>
          </a:p>
          <a:p>
            <a:pPr>
              <a:lnSpc>
                <a:spcPts val="1230"/>
              </a:lnSpc>
              <a:spcBef>
                <a:spcPts val="0"/>
              </a:spcBef>
              <a:spcAft>
                <a:spcPts val="0"/>
              </a:spcAft>
              <a:defRPr sz="1000" b="1">
                <a:solidFill>
                  <a:srgbClr val="506274"/>
                </a:solidFill>
                <a:latin typeface="Arial"/>
              </a:defRPr>
            </a:pPr>
            <a:r>
              <a:t>RECEIPTS</a:t>
            </a:r>
          </a:p>
        </p:txBody>
      </p:sp>
      <p:sp>
        <p:nvSpPr>
          <p:cNvPr id="10" name="TextBox 9"/>
          <p:cNvSpPr txBox="1"/>
          <p:nvPr/>
        </p:nvSpPr>
        <p:spPr>
          <a:xfrm>
            <a:off x="812800" y="3403600"/>
            <a:ext cx="2101850" cy="787400"/>
          </a:xfrm>
          <a:prstGeom prst="rect">
            <a:avLst/>
          </a:prstGeom>
          <a:noFill/>
        </p:spPr>
        <p:txBody>
          <a:bodyPr wrap="none" lIns="0" rIns="0" tIns="0" bIns="0">
            <a:spAutoFit/>
          </a:bodyPr>
          <a:lstStyle/>
          <a:p>
            <a:pPr>
              <a:lnSpc>
                <a:spcPts val="3444"/>
              </a:lnSpc>
              <a:spcBef>
                <a:spcPts val="0"/>
              </a:spcBef>
              <a:spcAft>
                <a:spcPts val="0"/>
              </a:spcAft>
              <a:defRPr sz="2800" b="1">
                <a:solidFill>
                  <a:srgbClr val="007F83"/>
                </a:solidFill>
                <a:latin typeface="Arial"/>
              </a:defRPr>
            </a:pPr>
            <a:r>
              <a:t>$100m</a:t>
            </a:r>
          </a:p>
        </p:txBody>
      </p:sp>
      <p:sp>
        <p:nvSpPr>
          <p:cNvPr id="11" name="TextBox 10"/>
          <p:cNvSpPr txBox="1"/>
          <p:nvPr/>
        </p:nvSpPr>
        <p:spPr>
          <a:xfrm>
            <a:off x="812800" y="4229100"/>
            <a:ext cx="2101850" cy="342900"/>
          </a:xfrm>
          <a:prstGeom prst="rect">
            <a:avLst/>
          </a:prstGeom>
          <a:noFill/>
        </p:spPr>
        <p:txBody>
          <a:bodyPr wrap="none" lIns="0" rIns="0" tIns="0" bIns="0">
            <a:spAutoFit/>
          </a:bodyPr>
          <a:lstStyle/>
          <a:p>
            <a:pPr>
              <a:lnSpc>
                <a:spcPts val="1599"/>
              </a:lnSpc>
              <a:spcBef>
                <a:spcPts val="0"/>
              </a:spcBef>
              <a:spcAft>
                <a:spcPts val="0"/>
              </a:spcAft>
              <a:defRPr sz="1300" b="0">
                <a:solidFill>
                  <a:srgbClr val="142A40"/>
                </a:solidFill>
                <a:latin typeface="Arial"/>
              </a:defRPr>
            </a:pPr>
            <a:r>
              <a:t>Invented scenario</a:t>
            </a:r>
          </a:p>
        </p:txBody>
      </p:sp>
      <p:sp>
        <p:nvSpPr>
          <p:cNvPr id="12" name="Rounded Rectangle 11"/>
          <p:cNvSpPr/>
          <p:nvPr/>
        </p:nvSpPr>
        <p:spPr>
          <a:xfrm>
            <a:off x="3371850" y="2603500"/>
            <a:ext cx="2508250" cy="2032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71850" y="2603500"/>
            <a:ext cx="250825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5050" y="2806700"/>
            <a:ext cx="2101850" cy="546100"/>
          </a:xfrm>
          <a:prstGeom prst="rect">
            <a:avLst/>
          </a:prstGeom>
          <a:noFill/>
        </p:spPr>
        <p:txBody>
          <a:bodyPr wrap="none" lIns="0" rIns="0" tIns="0" bIns="0">
            <a:spAutoFit/>
          </a:bodyPr>
          <a:lstStyle/>
          <a:p>
            <a:pPr>
              <a:lnSpc>
                <a:spcPts val="1230"/>
              </a:lnSpc>
              <a:spcBef>
                <a:spcPts val="0"/>
              </a:spcBef>
              <a:spcAft>
                <a:spcPts val="0"/>
              </a:spcAft>
              <a:defRPr sz="1000" b="1">
                <a:solidFill>
                  <a:srgbClr val="506274"/>
                </a:solidFill>
                <a:latin typeface="Arial"/>
              </a:defRPr>
            </a:pPr>
            <a:r>
              <a:t>ASSUMED ATTRIBUTION</a:t>
            </a:r>
          </a:p>
        </p:txBody>
      </p:sp>
      <p:sp>
        <p:nvSpPr>
          <p:cNvPr id="15" name="TextBox 14"/>
          <p:cNvSpPr txBox="1"/>
          <p:nvPr/>
        </p:nvSpPr>
        <p:spPr>
          <a:xfrm>
            <a:off x="3575050" y="3403600"/>
            <a:ext cx="2101850" cy="787400"/>
          </a:xfrm>
          <a:prstGeom prst="rect">
            <a:avLst/>
          </a:prstGeom>
          <a:noFill/>
        </p:spPr>
        <p:txBody>
          <a:bodyPr wrap="none" lIns="0" rIns="0" tIns="0" bIns="0">
            <a:spAutoFit/>
          </a:bodyPr>
          <a:lstStyle/>
          <a:p>
            <a:pPr>
              <a:lnSpc>
                <a:spcPts val="3444"/>
              </a:lnSpc>
              <a:spcBef>
                <a:spcPts val="0"/>
              </a:spcBef>
              <a:spcAft>
                <a:spcPts val="0"/>
              </a:spcAft>
              <a:defRPr sz="2800" b="1">
                <a:solidFill>
                  <a:srgbClr val="007F83"/>
                </a:solidFill>
                <a:latin typeface="Arial"/>
              </a:defRPr>
            </a:pPr>
            <a:r>
              <a:t>50%</a:t>
            </a:r>
          </a:p>
        </p:txBody>
      </p:sp>
      <p:sp>
        <p:nvSpPr>
          <p:cNvPr id="16" name="TextBox 15"/>
          <p:cNvSpPr txBox="1"/>
          <p:nvPr/>
        </p:nvSpPr>
        <p:spPr>
          <a:xfrm>
            <a:off x="3575050" y="4229100"/>
            <a:ext cx="2101850" cy="342900"/>
          </a:xfrm>
          <a:prstGeom prst="rect">
            <a:avLst/>
          </a:prstGeom>
          <a:noFill/>
        </p:spPr>
        <p:txBody>
          <a:bodyPr wrap="none" lIns="0" rIns="0" tIns="0" bIns="0">
            <a:spAutoFit/>
          </a:bodyPr>
          <a:lstStyle/>
          <a:p>
            <a:pPr>
              <a:lnSpc>
                <a:spcPts val="1599"/>
              </a:lnSpc>
              <a:spcBef>
                <a:spcPts val="0"/>
              </a:spcBef>
              <a:spcAft>
                <a:spcPts val="0"/>
              </a:spcAft>
              <a:defRPr sz="1300" b="0">
                <a:solidFill>
                  <a:srgbClr val="142A40"/>
                </a:solidFill>
                <a:latin typeface="Arial"/>
              </a:defRPr>
            </a:pPr>
            <a:r>
              <a:t>Invented scenario</a:t>
            </a:r>
          </a:p>
        </p:txBody>
      </p:sp>
      <p:sp>
        <p:nvSpPr>
          <p:cNvPr id="17" name="Rounded Rectangle 16"/>
          <p:cNvSpPr/>
          <p:nvPr/>
        </p:nvSpPr>
        <p:spPr>
          <a:xfrm>
            <a:off x="6134100" y="2603500"/>
            <a:ext cx="2508250" cy="2032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34100" y="2603500"/>
            <a:ext cx="250825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7300" y="2806700"/>
            <a:ext cx="2101850" cy="546100"/>
          </a:xfrm>
          <a:prstGeom prst="rect">
            <a:avLst/>
          </a:prstGeom>
          <a:noFill/>
        </p:spPr>
        <p:txBody>
          <a:bodyPr wrap="none" lIns="0" rIns="0" tIns="0" bIns="0">
            <a:spAutoFit/>
          </a:bodyPr>
          <a:lstStyle/>
          <a:p>
            <a:pPr>
              <a:lnSpc>
                <a:spcPts val="1230"/>
              </a:lnSpc>
              <a:spcBef>
                <a:spcPts val="0"/>
              </a:spcBef>
              <a:spcAft>
                <a:spcPts val="0"/>
              </a:spcAft>
              <a:defRPr sz="1000" b="1">
                <a:solidFill>
                  <a:srgbClr val="506274"/>
                </a:solidFill>
                <a:latin typeface="Arial"/>
              </a:defRPr>
            </a:pPr>
            <a:r>
              <a:t>ASSUMED RETAINED MARGIN</a:t>
            </a:r>
          </a:p>
        </p:txBody>
      </p:sp>
      <p:sp>
        <p:nvSpPr>
          <p:cNvPr id="20" name="TextBox 19"/>
          <p:cNvSpPr txBox="1"/>
          <p:nvPr/>
        </p:nvSpPr>
        <p:spPr>
          <a:xfrm>
            <a:off x="6337300" y="3403600"/>
            <a:ext cx="2101850" cy="787400"/>
          </a:xfrm>
          <a:prstGeom prst="rect">
            <a:avLst/>
          </a:prstGeom>
          <a:noFill/>
        </p:spPr>
        <p:txBody>
          <a:bodyPr wrap="none" lIns="0" rIns="0" tIns="0" bIns="0">
            <a:spAutoFit/>
          </a:bodyPr>
          <a:lstStyle/>
          <a:p>
            <a:pPr>
              <a:lnSpc>
                <a:spcPts val="3444"/>
              </a:lnSpc>
              <a:spcBef>
                <a:spcPts val="0"/>
              </a:spcBef>
              <a:spcAft>
                <a:spcPts val="0"/>
              </a:spcAft>
              <a:defRPr sz="2800" b="1">
                <a:solidFill>
                  <a:srgbClr val="007F83"/>
                </a:solidFill>
                <a:latin typeface="Arial"/>
              </a:defRPr>
            </a:pPr>
            <a:r>
              <a:t>40%</a:t>
            </a:r>
          </a:p>
        </p:txBody>
      </p:sp>
      <p:sp>
        <p:nvSpPr>
          <p:cNvPr id="21" name="TextBox 20"/>
          <p:cNvSpPr txBox="1"/>
          <p:nvPr/>
        </p:nvSpPr>
        <p:spPr>
          <a:xfrm>
            <a:off x="6337300" y="4229100"/>
            <a:ext cx="2101850" cy="342900"/>
          </a:xfrm>
          <a:prstGeom prst="rect">
            <a:avLst/>
          </a:prstGeom>
          <a:noFill/>
        </p:spPr>
        <p:txBody>
          <a:bodyPr wrap="none" lIns="0" rIns="0" tIns="0" bIns="0">
            <a:spAutoFit/>
          </a:bodyPr>
          <a:lstStyle/>
          <a:p>
            <a:pPr>
              <a:lnSpc>
                <a:spcPts val="1599"/>
              </a:lnSpc>
              <a:spcBef>
                <a:spcPts val="0"/>
              </a:spcBef>
              <a:spcAft>
                <a:spcPts val="0"/>
              </a:spcAft>
              <a:defRPr sz="1300" b="0">
                <a:solidFill>
                  <a:srgbClr val="142A40"/>
                </a:solidFill>
                <a:latin typeface="Arial"/>
              </a:defRPr>
            </a:pPr>
            <a:r>
              <a:t>Invented scenario</a:t>
            </a:r>
          </a:p>
        </p:txBody>
      </p:sp>
      <p:sp>
        <p:nvSpPr>
          <p:cNvPr id="22" name="Rounded Rectangle 21"/>
          <p:cNvSpPr/>
          <p:nvPr/>
        </p:nvSpPr>
        <p:spPr>
          <a:xfrm>
            <a:off x="8896350" y="2603500"/>
            <a:ext cx="2508250" cy="2032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96350" y="2603500"/>
            <a:ext cx="2508250" cy="635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9550" y="2806700"/>
            <a:ext cx="2101850" cy="546100"/>
          </a:xfrm>
          <a:prstGeom prst="rect">
            <a:avLst/>
          </a:prstGeom>
          <a:noFill/>
        </p:spPr>
        <p:txBody>
          <a:bodyPr wrap="none" lIns="0" rIns="0" tIns="0" bIns="0">
            <a:spAutoFit/>
          </a:bodyPr>
          <a:lstStyle/>
          <a:p>
            <a:pPr>
              <a:lnSpc>
                <a:spcPts val="1230"/>
              </a:lnSpc>
              <a:spcBef>
                <a:spcPts val="0"/>
              </a:spcBef>
              <a:spcAft>
                <a:spcPts val="0"/>
              </a:spcAft>
              <a:defRPr sz="1000" b="1">
                <a:solidFill>
                  <a:srgbClr val="506274"/>
                </a:solidFill>
                <a:latin typeface="Arial"/>
              </a:defRPr>
            </a:pPr>
            <a:r>
              <a:t>ANNUAL CONTRIBUTION</a:t>
            </a:r>
          </a:p>
        </p:txBody>
      </p:sp>
      <p:sp>
        <p:nvSpPr>
          <p:cNvPr id="25" name="TextBox 24"/>
          <p:cNvSpPr txBox="1"/>
          <p:nvPr/>
        </p:nvSpPr>
        <p:spPr>
          <a:xfrm>
            <a:off x="9099550" y="3403600"/>
            <a:ext cx="2101850" cy="787400"/>
          </a:xfrm>
          <a:prstGeom prst="rect">
            <a:avLst/>
          </a:prstGeom>
          <a:noFill/>
        </p:spPr>
        <p:txBody>
          <a:bodyPr wrap="none" lIns="0" rIns="0" tIns="0" bIns="0">
            <a:spAutoFit/>
          </a:bodyPr>
          <a:lstStyle/>
          <a:p>
            <a:pPr>
              <a:lnSpc>
                <a:spcPts val="3444"/>
              </a:lnSpc>
              <a:spcBef>
                <a:spcPts val="0"/>
              </a:spcBef>
              <a:spcAft>
                <a:spcPts val="0"/>
              </a:spcAft>
              <a:defRPr sz="2800" b="1">
                <a:solidFill>
                  <a:srgbClr val="007F83"/>
                </a:solidFill>
                <a:latin typeface="Arial"/>
              </a:defRPr>
            </a:pPr>
            <a:r>
              <a:t>$20m</a:t>
            </a:r>
          </a:p>
        </p:txBody>
      </p:sp>
      <p:sp>
        <p:nvSpPr>
          <p:cNvPr id="26" name="TextBox 25"/>
          <p:cNvSpPr txBox="1"/>
          <p:nvPr/>
        </p:nvSpPr>
        <p:spPr>
          <a:xfrm>
            <a:off x="9099550" y="4229100"/>
            <a:ext cx="2101850" cy="342900"/>
          </a:xfrm>
          <a:prstGeom prst="rect">
            <a:avLst/>
          </a:prstGeom>
          <a:noFill/>
        </p:spPr>
        <p:txBody>
          <a:bodyPr wrap="none" lIns="0" rIns="0" tIns="0" bIns="0">
            <a:spAutoFit/>
          </a:bodyPr>
          <a:lstStyle/>
          <a:p>
            <a:pPr>
              <a:lnSpc>
                <a:spcPts val="1599"/>
              </a:lnSpc>
              <a:spcBef>
                <a:spcPts val="0"/>
              </a:spcBef>
              <a:spcAft>
                <a:spcPts val="0"/>
              </a:spcAft>
              <a:defRPr sz="1300" b="0">
                <a:solidFill>
                  <a:srgbClr val="142A40"/>
                </a:solidFill>
                <a:latin typeface="Arial"/>
              </a:defRPr>
            </a:pPr>
            <a:r>
              <a:t>Invented scenario</a:t>
            </a:r>
          </a:p>
        </p:txBody>
      </p:sp>
      <p:sp>
        <p:nvSpPr>
          <p:cNvPr id="27" name="TextBox 26"/>
          <p:cNvSpPr txBox="1"/>
          <p:nvPr/>
        </p:nvSpPr>
        <p:spPr>
          <a:xfrm>
            <a:off x="609600" y="4800600"/>
            <a:ext cx="10795000" cy="787400"/>
          </a:xfrm>
          <a:prstGeom prst="rect">
            <a:avLst/>
          </a:prstGeom>
          <a:noFill/>
        </p:spPr>
        <p:txBody>
          <a:bodyPr wrap="none" lIns="0" rIns="0" tIns="0" bIns="0">
            <a:spAutoFit/>
          </a:bodyPr>
          <a:lstStyle/>
          <a:p>
            <a:pPr>
              <a:lnSpc>
                <a:spcPts val="1845"/>
              </a:lnSpc>
              <a:spcBef>
                <a:spcPts val="0"/>
              </a:spcBef>
              <a:spcAft>
                <a:spcPts val="0"/>
              </a:spcAft>
              <a:defRPr sz="1500" b="0">
                <a:solidFill>
                  <a:srgbClr val="506274"/>
                </a:solidFill>
                <a:latin typeface="Arial"/>
              </a:defRPr>
            </a:pPr>
            <a:r>
              <a:t>Result: $20m annual contribution; $154.4m ten-year PV at 5%.</a:t>
            </a:r>
          </a:p>
          <a:p>
            <a:pPr>
              <a:lnSpc>
                <a:spcPts val="1845"/>
              </a:lnSpc>
              <a:spcBef>
                <a:spcPts val="0"/>
              </a:spcBef>
              <a:spcAft>
                <a:spcPts val="0"/>
              </a:spcAft>
              <a:defRPr sz="1500" b="0">
                <a:solidFill>
                  <a:srgbClr val="506274"/>
                </a:solidFill>
                <a:latin typeface="Arial"/>
              </a:defRPr>
            </a:pPr>
            <a:r>
              <a:t>That is $183.4m below modeled salary-payment PV before other club effects.</a:t>
            </a:r>
          </a:p>
        </p:txBody>
      </p:sp>
      <p:sp>
        <p:nvSpPr>
          <p:cNvPr id="28" name="TextBox 27"/>
          <p:cNvSpPr txBox="1"/>
          <p:nvPr/>
        </p:nvSpPr>
        <p:spPr>
          <a:xfrm>
            <a:off x="609600" y="6070600"/>
            <a:ext cx="10642600"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rPr>
                <a:hlinkClick r:id="rId2"/>
              </a:rPr>
              <a:t>[FRED_MODEL] finance.json</a:t>
            </a:r>
          </a:p>
        </p:txBody>
      </p:sp>
      <p:cxnSp>
        <p:nvCxnSpPr>
          <p:cNvPr id="29" name="Connector 28"/>
          <p:cNvCxnSpPr/>
          <p:nvPr/>
        </p:nvCxnSpPr>
        <p:spPr>
          <a:xfrm>
            <a:off x="609600" y="6515100"/>
            <a:ext cx="10795000" cy="0"/>
          </a:xfrm>
          <a:prstGeom prst="line">
            <a:avLst/>
          </a:prstGeom>
          <a:ln w="12700">
            <a:solidFill>
              <a:srgbClr val="DDED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ORIGINAL-DECISION ILLUSTRATION | assumptions and exclusions apply</a:t>
            </a:r>
          </a:p>
        </p:txBody>
      </p:sp>
      <p:sp>
        <p:nvSpPr>
          <p:cNvPr id="31" name="TextBox 30"/>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506274"/>
                </a:solidFill>
                <a:latin typeface="Arial"/>
              </a:defRPr>
            </a:pPr>
            <a:r>
              <a:t>AGENCY LEADERSHIP | USD | EVIDENCE CUTOFF OCTOBER 13, 2026</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142A40"/>
                </a:solidFill>
                <a:latin typeface="Arial"/>
              </a:defRPr>
            </a:pPr>
            <a:r>
              <a:t>Soto comparison | normalize before ranking</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506274"/>
                </a:solidFill>
                <a:latin typeface="Arial"/>
              </a:defRPr>
            </a:pPr>
            <a:r>
              <a:t>Different commitments need a common valuation basis.</a:t>
            </a:r>
          </a:p>
        </p:txBody>
      </p:sp>
      <p:sp>
        <p:nvSpPr>
          <p:cNvPr id="7" name="Rectangle 6"/>
          <p:cNvSpPr/>
          <p:nvPr/>
        </p:nvSpPr>
        <p:spPr>
          <a:xfrm>
            <a:off x="609600" y="2603500"/>
            <a:ext cx="10795000" cy="717528"/>
          </a:xfrm>
          <a:prstGeom prst="rect">
            <a:avLst/>
          </a:prstGeom>
          <a:solidFill>
            <a:srgbClr val="14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2730500"/>
            <a:ext cx="3293533" cy="514328"/>
          </a:xfrm>
          <a:prstGeom prst="rect">
            <a:avLst/>
          </a:prstGeom>
          <a:noFill/>
        </p:spPr>
        <p:txBody>
          <a:bodyPr wrap="none" lIns="0" rIns="0" tIns="0" bIns="0">
            <a:spAutoFit/>
          </a:bodyPr>
          <a:lstStyle/>
          <a:p>
            <a:pPr>
              <a:lnSpc>
                <a:spcPts val="1845"/>
              </a:lnSpc>
              <a:spcBef>
                <a:spcPts val="0"/>
              </a:spcBef>
              <a:spcAft>
                <a:spcPts val="0"/>
              </a:spcAft>
              <a:defRPr sz="1500" b="1">
                <a:solidFill>
                  <a:srgbClr val="FFFFFF"/>
                </a:solidFill>
                <a:latin typeface="Arial"/>
              </a:defRPr>
            </a:pPr>
            <a:r>
              <a:t>Player</a:t>
            </a:r>
          </a:p>
        </p:txBody>
      </p:sp>
      <p:sp>
        <p:nvSpPr>
          <p:cNvPr id="9" name="TextBox 8"/>
          <p:cNvSpPr txBox="1"/>
          <p:nvPr/>
        </p:nvSpPr>
        <p:spPr>
          <a:xfrm>
            <a:off x="4360333" y="2730500"/>
            <a:ext cx="3293533" cy="514328"/>
          </a:xfrm>
          <a:prstGeom prst="rect">
            <a:avLst/>
          </a:prstGeom>
          <a:noFill/>
        </p:spPr>
        <p:txBody>
          <a:bodyPr wrap="none" lIns="0" rIns="0" tIns="0" bIns="0">
            <a:spAutoFit/>
          </a:bodyPr>
          <a:lstStyle/>
          <a:p>
            <a:pPr>
              <a:lnSpc>
                <a:spcPts val="1845"/>
              </a:lnSpc>
              <a:spcBef>
                <a:spcPts val="0"/>
              </a:spcBef>
              <a:spcAft>
                <a:spcPts val="0"/>
              </a:spcAft>
              <a:defRPr sz="1500" b="1">
                <a:solidFill>
                  <a:srgbClr val="FFFFFF"/>
                </a:solidFill>
                <a:latin typeface="Arial"/>
              </a:defRPr>
            </a:pPr>
            <a:r>
              <a:t>Term / nominal USD</a:t>
            </a:r>
          </a:p>
        </p:txBody>
      </p:sp>
      <p:sp>
        <p:nvSpPr>
          <p:cNvPr id="10" name="TextBox 9"/>
          <p:cNvSpPr txBox="1"/>
          <p:nvPr/>
        </p:nvSpPr>
        <p:spPr>
          <a:xfrm>
            <a:off x="7958666" y="2730500"/>
            <a:ext cx="3293533" cy="514328"/>
          </a:xfrm>
          <a:prstGeom prst="rect">
            <a:avLst/>
          </a:prstGeom>
          <a:noFill/>
        </p:spPr>
        <p:txBody>
          <a:bodyPr wrap="none" lIns="0" rIns="0" tIns="0" bIns="0">
            <a:spAutoFit/>
          </a:bodyPr>
          <a:lstStyle/>
          <a:p>
            <a:pPr>
              <a:lnSpc>
                <a:spcPts val="1845"/>
              </a:lnSpc>
              <a:spcBef>
                <a:spcPts val="0"/>
              </a:spcBef>
              <a:spcAft>
                <a:spcPts val="0"/>
              </a:spcAft>
              <a:defRPr sz="1500" b="1">
                <a:solidFill>
                  <a:srgbClr val="FFFFFF"/>
                </a:solidFill>
                <a:latin typeface="Arial"/>
              </a:defRPr>
            </a:pPr>
            <a:r>
              <a:t>Payment structure</a:t>
            </a:r>
          </a:p>
        </p:txBody>
      </p:sp>
      <p:sp>
        <p:nvSpPr>
          <p:cNvPr id="11" name="Rectangle 10"/>
          <p:cNvSpPr/>
          <p:nvPr/>
        </p:nvSpPr>
        <p:spPr>
          <a:xfrm>
            <a:off x="609600" y="3321028"/>
            <a:ext cx="10795000" cy="717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3448028"/>
            <a:ext cx="3293533" cy="514328"/>
          </a:xfrm>
          <a:prstGeom prst="rect">
            <a:avLst/>
          </a:prstGeom>
          <a:noFill/>
        </p:spPr>
        <p:txBody>
          <a:bodyPr wrap="none" lIns="0" rIns="0" tIns="0" bIns="0">
            <a:spAutoFit/>
          </a:bodyPr>
          <a:lstStyle/>
          <a:p>
            <a:pPr>
              <a:lnSpc>
                <a:spcPts val="1968"/>
              </a:lnSpc>
              <a:spcBef>
                <a:spcPts val="0"/>
              </a:spcBef>
              <a:spcAft>
                <a:spcPts val="0"/>
              </a:spcAft>
              <a:defRPr sz="1600" b="0">
                <a:solidFill>
                  <a:srgbClr val="142A40"/>
                </a:solidFill>
                <a:latin typeface="Arial"/>
              </a:defRPr>
            </a:pPr>
            <a:r>
              <a:t>Ohtani</a:t>
            </a:r>
          </a:p>
        </p:txBody>
      </p:sp>
      <p:sp>
        <p:nvSpPr>
          <p:cNvPr id="13" name="TextBox 12"/>
          <p:cNvSpPr txBox="1"/>
          <p:nvPr/>
        </p:nvSpPr>
        <p:spPr>
          <a:xfrm>
            <a:off x="4360333" y="3448028"/>
            <a:ext cx="3293533" cy="514328"/>
          </a:xfrm>
          <a:prstGeom prst="rect">
            <a:avLst/>
          </a:prstGeom>
          <a:noFill/>
        </p:spPr>
        <p:txBody>
          <a:bodyPr wrap="none" lIns="0" rIns="0" tIns="0" bIns="0">
            <a:spAutoFit/>
          </a:bodyPr>
          <a:lstStyle/>
          <a:p>
            <a:pPr>
              <a:lnSpc>
                <a:spcPts val="1968"/>
              </a:lnSpc>
              <a:spcBef>
                <a:spcPts val="0"/>
              </a:spcBef>
              <a:spcAft>
                <a:spcPts val="0"/>
              </a:spcAft>
              <a:defRPr sz="1600" b="0">
                <a:solidFill>
                  <a:srgbClr val="142A40"/>
                </a:solidFill>
                <a:latin typeface="Arial"/>
              </a:defRPr>
            </a:pPr>
            <a:r>
              <a:t>10 years / $700m</a:t>
            </a:r>
          </a:p>
        </p:txBody>
      </p:sp>
      <p:sp>
        <p:nvSpPr>
          <p:cNvPr id="14" name="TextBox 13"/>
          <p:cNvSpPr txBox="1"/>
          <p:nvPr/>
        </p:nvSpPr>
        <p:spPr>
          <a:xfrm>
            <a:off x="7958666" y="3448028"/>
            <a:ext cx="3293533" cy="514328"/>
          </a:xfrm>
          <a:prstGeom prst="rect">
            <a:avLst/>
          </a:prstGeom>
          <a:noFill/>
        </p:spPr>
        <p:txBody>
          <a:bodyPr wrap="none" lIns="0" rIns="0" tIns="0" bIns="0">
            <a:spAutoFit/>
          </a:bodyPr>
          <a:lstStyle/>
          <a:p>
            <a:pPr>
              <a:lnSpc>
                <a:spcPts val="1968"/>
              </a:lnSpc>
              <a:spcBef>
                <a:spcPts val="0"/>
              </a:spcBef>
              <a:spcAft>
                <a:spcPts val="0"/>
              </a:spcAft>
              <a:defRPr sz="1600" b="0">
                <a:solidFill>
                  <a:srgbClr val="142A40"/>
                </a:solidFill>
                <a:latin typeface="Arial"/>
              </a:defRPr>
            </a:pPr>
            <a:r>
              <a:t>$2m annually 2024-33; $68m</a:t>
            </a:r>
          </a:p>
          <a:p>
            <a:pPr>
              <a:lnSpc>
                <a:spcPts val="1968"/>
              </a:lnSpc>
              <a:spcBef>
                <a:spcPts val="0"/>
              </a:spcBef>
              <a:spcAft>
                <a:spcPts val="0"/>
              </a:spcAft>
              <a:defRPr sz="1600" b="0">
                <a:solidFill>
                  <a:srgbClr val="142A40"/>
                </a:solidFill>
                <a:latin typeface="Arial"/>
              </a:defRPr>
            </a:pPr>
            <a:r>
              <a:t>annually 2034-43</a:t>
            </a:r>
          </a:p>
        </p:txBody>
      </p:sp>
      <p:sp>
        <p:nvSpPr>
          <p:cNvPr id="15" name="Rectangle 14"/>
          <p:cNvSpPr/>
          <p:nvPr/>
        </p:nvSpPr>
        <p:spPr>
          <a:xfrm>
            <a:off x="609600" y="4038557"/>
            <a:ext cx="10795000" cy="717528"/>
          </a:xfrm>
          <a:prstGeom prst="rect">
            <a:avLst/>
          </a:prstGeom>
          <a:solidFill>
            <a:srgbClr val="DDE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000" y="4165557"/>
            <a:ext cx="3293533" cy="514328"/>
          </a:xfrm>
          <a:prstGeom prst="rect">
            <a:avLst/>
          </a:prstGeom>
          <a:noFill/>
        </p:spPr>
        <p:txBody>
          <a:bodyPr wrap="none" lIns="0" rIns="0" tIns="0" bIns="0">
            <a:spAutoFit/>
          </a:bodyPr>
          <a:lstStyle/>
          <a:p>
            <a:pPr>
              <a:lnSpc>
                <a:spcPts val="1968"/>
              </a:lnSpc>
              <a:spcBef>
                <a:spcPts val="0"/>
              </a:spcBef>
              <a:spcAft>
                <a:spcPts val="0"/>
              </a:spcAft>
              <a:defRPr sz="1600" b="0">
                <a:solidFill>
                  <a:srgbClr val="142A40"/>
                </a:solidFill>
                <a:latin typeface="Arial"/>
              </a:defRPr>
            </a:pPr>
            <a:r>
              <a:t>Soto</a:t>
            </a:r>
          </a:p>
        </p:txBody>
      </p:sp>
      <p:sp>
        <p:nvSpPr>
          <p:cNvPr id="17" name="TextBox 16"/>
          <p:cNvSpPr txBox="1"/>
          <p:nvPr/>
        </p:nvSpPr>
        <p:spPr>
          <a:xfrm>
            <a:off x="4360333" y="4165557"/>
            <a:ext cx="3293533" cy="514328"/>
          </a:xfrm>
          <a:prstGeom prst="rect">
            <a:avLst/>
          </a:prstGeom>
          <a:noFill/>
        </p:spPr>
        <p:txBody>
          <a:bodyPr wrap="none" lIns="0" rIns="0" tIns="0" bIns="0">
            <a:spAutoFit/>
          </a:bodyPr>
          <a:lstStyle/>
          <a:p>
            <a:pPr>
              <a:lnSpc>
                <a:spcPts val="1968"/>
              </a:lnSpc>
              <a:spcBef>
                <a:spcPts val="0"/>
              </a:spcBef>
              <a:spcAft>
                <a:spcPts val="0"/>
              </a:spcAft>
              <a:defRPr sz="1600" b="0">
                <a:solidFill>
                  <a:srgbClr val="142A40"/>
                </a:solidFill>
                <a:latin typeface="Arial"/>
              </a:defRPr>
            </a:pPr>
            <a:r>
              <a:t>15 years / $765m</a:t>
            </a:r>
          </a:p>
        </p:txBody>
      </p:sp>
      <p:sp>
        <p:nvSpPr>
          <p:cNvPr id="18" name="TextBox 17"/>
          <p:cNvSpPr txBox="1"/>
          <p:nvPr/>
        </p:nvSpPr>
        <p:spPr>
          <a:xfrm>
            <a:off x="7958666" y="4165557"/>
            <a:ext cx="3293533" cy="514328"/>
          </a:xfrm>
          <a:prstGeom prst="rect">
            <a:avLst/>
          </a:prstGeom>
          <a:noFill/>
        </p:spPr>
        <p:txBody>
          <a:bodyPr wrap="none" lIns="0" rIns="0" tIns="0" bIns="0">
            <a:spAutoFit/>
          </a:bodyPr>
          <a:lstStyle/>
          <a:p>
            <a:pPr>
              <a:lnSpc>
                <a:spcPts val="1968"/>
              </a:lnSpc>
              <a:spcBef>
                <a:spcPts val="0"/>
              </a:spcBef>
              <a:spcAft>
                <a:spcPts val="0"/>
              </a:spcAft>
              <a:defRPr sz="1600" b="0">
                <a:solidFill>
                  <a:srgbClr val="142A40"/>
                </a:solidFill>
                <a:latin typeface="Arial"/>
              </a:defRPr>
            </a:pPr>
            <a:r>
              <a:t>No deferrals; conditional opt-out</a:t>
            </a:r>
          </a:p>
          <a:p>
            <a:pPr>
              <a:lnSpc>
                <a:spcPts val="1968"/>
              </a:lnSpc>
              <a:spcBef>
                <a:spcPts val="0"/>
              </a:spcBef>
              <a:spcAft>
                <a:spcPts val="0"/>
              </a:spcAft>
              <a:defRPr sz="1600" b="0">
                <a:solidFill>
                  <a:srgbClr val="142A40"/>
                </a:solidFill>
                <a:latin typeface="Arial"/>
              </a:defRPr>
            </a:pPr>
            <a:r>
              <a:t>after year five</a:t>
            </a:r>
          </a:p>
        </p:txBody>
      </p:sp>
      <p:sp>
        <p:nvSpPr>
          <p:cNvPr id="19" name="TextBox 18"/>
          <p:cNvSpPr txBox="1"/>
          <p:nvPr/>
        </p:nvSpPr>
        <p:spPr>
          <a:xfrm>
            <a:off x="609600" y="4908486"/>
            <a:ext cx="10795000" cy="680783"/>
          </a:xfrm>
          <a:prstGeom prst="rect">
            <a:avLst/>
          </a:prstGeom>
          <a:noFill/>
        </p:spPr>
        <p:txBody>
          <a:bodyPr wrap="none" lIns="0" rIns="0" tIns="0" bIns="0">
            <a:spAutoFit/>
          </a:bodyPr>
          <a:lstStyle/>
          <a:p>
            <a:pPr>
              <a:lnSpc>
                <a:spcPts val="1783"/>
              </a:lnSpc>
              <a:spcBef>
                <a:spcPts val="0"/>
              </a:spcBef>
              <a:spcAft>
                <a:spcPts val="0"/>
              </a:spcAft>
              <a:defRPr sz="1450" b="0">
                <a:solidFill>
                  <a:srgbClr val="506274"/>
                </a:solidFill>
                <a:latin typeface="Arial"/>
              </a:defRPr>
            </a:pPr>
            <a:r>
              <a:t>Normalize valuation date, cash timing, duration, option scenarios and expected contribution before comparing.</a:t>
            </a:r>
          </a:p>
          <a:p>
            <a:pPr>
              <a:lnSpc>
                <a:spcPts val="1783"/>
              </a:lnSpc>
              <a:spcBef>
                <a:spcPts val="0"/>
              </a:spcBef>
              <a:spcAft>
                <a:spcPts val="0"/>
              </a:spcAft>
              <a:defRPr sz="1450" b="0">
                <a:solidFill>
                  <a:srgbClr val="506274"/>
                </a:solidFill>
                <a:latin typeface="Arial"/>
              </a:defRPr>
            </a:pPr>
            <a:r>
              <a:t>Value retained club contribution and roster alternatives against compensation, marginal CBT tax and other incremental costs.</a:t>
            </a:r>
          </a:p>
          <a:p>
            <a:pPr>
              <a:lnSpc>
                <a:spcPts val="1783"/>
              </a:lnSpc>
              <a:spcBef>
                <a:spcPts val="0"/>
              </a:spcBef>
              <a:spcAft>
                <a:spcPts val="0"/>
              </a:spcAft>
              <a:defRPr sz="1450" b="0">
                <a:solidFill>
                  <a:srgbClr val="506274"/>
                </a:solidFill>
                <a:latin typeface="Arial"/>
              </a:defRPr>
            </a:pPr>
            <a:r>
              <a:t>Headline totals do not establish net breakeven or a best-ever ranking.</a:t>
            </a:r>
          </a:p>
        </p:txBody>
      </p:sp>
      <p:sp>
        <p:nvSpPr>
          <p:cNvPr id="20" name="TextBox 19"/>
          <p:cNvSpPr txBox="1"/>
          <p:nvPr/>
        </p:nvSpPr>
        <p:spPr>
          <a:xfrm>
            <a:off x="609600" y="6070600"/>
            <a:ext cx="3445933"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rPr>
                <a:hlinkClick r:id="rId2"/>
              </a:rPr>
              <a:t>[MLB1] www.mlb.com</a:t>
            </a:r>
          </a:p>
        </p:txBody>
      </p:sp>
      <p:sp>
        <p:nvSpPr>
          <p:cNvPr id="21" name="TextBox 20"/>
          <p:cNvSpPr txBox="1"/>
          <p:nvPr/>
        </p:nvSpPr>
        <p:spPr>
          <a:xfrm>
            <a:off x="4207933" y="6070600"/>
            <a:ext cx="3445933"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rPr>
                <a:hlinkClick r:id="rId3"/>
              </a:rPr>
              <a:t>[SOTO1] www.mlb.com</a:t>
            </a:r>
          </a:p>
        </p:txBody>
      </p:sp>
      <p:sp>
        <p:nvSpPr>
          <p:cNvPr id="22" name="TextBox 21"/>
          <p:cNvSpPr txBox="1"/>
          <p:nvPr/>
        </p:nvSpPr>
        <p:spPr>
          <a:xfrm>
            <a:off x="7806266" y="6070600"/>
            <a:ext cx="3445933"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rPr>
                <a:hlinkClick r:id="rId4"/>
              </a:rPr>
              <a:t>[FRED_MODEL] finance.json</a:t>
            </a:r>
          </a:p>
        </p:txBody>
      </p:sp>
      <p:cxnSp>
        <p:nvCxnSpPr>
          <p:cNvPr id="23" name="Connector 22"/>
          <p:cNvCxnSpPr/>
          <p:nvPr/>
        </p:nvCxnSpPr>
        <p:spPr>
          <a:xfrm>
            <a:off x="609600" y="6515100"/>
            <a:ext cx="10795000" cy="0"/>
          </a:xfrm>
          <a:prstGeom prst="line">
            <a:avLst/>
          </a:prstGeom>
          <a:ln w="12700">
            <a:solidFill>
              <a:srgbClr val="DDED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ORIGINAL-DECISION ILLUSTRATION | assumptions and exclusions apply</a:t>
            </a:r>
          </a:p>
        </p:txBody>
      </p:sp>
      <p:sp>
        <p:nvSpPr>
          <p:cNvPr id="25" name="TextBox 24"/>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00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506274"/>
                </a:solidFill>
                <a:latin typeface="Arial"/>
              </a:defRPr>
            </a:pPr>
            <a:r>
              <a:t>EVIDENCE CUTOFF OCTOBER 13, 2026 | USD WHERE MONETARY</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142A40"/>
                </a:solidFill>
                <a:latin typeface="Arial"/>
              </a:defRPr>
            </a:pPr>
            <a:r>
              <a:t>Sources and model limits</a:t>
            </a:r>
          </a:p>
        </p:txBody>
      </p:sp>
      <p:sp>
        <p:nvSpPr>
          <p:cNvPr id="6" name="TextBox 5"/>
          <p:cNvSpPr txBox="1"/>
          <p:nvPr/>
        </p:nvSpPr>
        <p:spPr>
          <a:xfrm>
            <a:off x="609600" y="1841500"/>
            <a:ext cx="5130800" cy="342900"/>
          </a:xfrm>
          <a:prstGeom prst="rect">
            <a:avLst/>
          </a:prstGeom>
          <a:noFill/>
        </p:spPr>
        <p:txBody>
          <a:bodyPr wrap="none" lIns="0" rIns="0" tIns="0" bIns="0">
            <a:spAutoFit/>
          </a:bodyPr>
          <a:lstStyle/>
          <a:p>
            <a:pPr>
              <a:lnSpc>
                <a:spcPts val="1414"/>
              </a:lnSpc>
              <a:spcBef>
                <a:spcPts val="0"/>
              </a:spcBef>
              <a:spcAft>
                <a:spcPts val="0"/>
              </a:spcAft>
              <a:defRPr sz="1150" b="1">
                <a:solidFill>
                  <a:srgbClr val="142A40"/>
                </a:solidFill>
                <a:latin typeface="Arial"/>
              </a:defRPr>
            </a:pPr>
            <a:r>
              <a:rPr>
                <a:hlinkClick r:id="rId2"/>
              </a:rPr>
              <a:t>[SAVANT] MLB Baseball Savant: Shohei Ohtani regular-season statistics</a:t>
            </a:r>
          </a:p>
        </p:txBody>
      </p:sp>
      <p:sp>
        <p:nvSpPr>
          <p:cNvPr id="7" name="TextBox 6"/>
          <p:cNvSpPr txBox="1"/>
          <p:nvPr/>
        </p:nvSpPr>
        <p:spPr>
          <a:xfrm>
            <a:off x="609600" y="2197100"/>
            <a:ext cx="5130800" cy="317500"/>
          </a:xfrm>
          <a:prstGeom prst="rect">
            <a:avLst/>
          </a:prstGeom>
          <a:noFill/>
        </p:spPr>
        <p:txBody>
          <a:bodyPr wrap="none" lIns="0" rIns="0" tIns="0" bIns="0">
            <a:spAutoFit/>
          </a:bodyPr>
          <a:lstStyle/>
          <a:p>
            <a:pPr>
              <a:lnSpc>
                <a:spcPts val="1107"/>
              </a:lnSpc>
              <a:spcBef>
                <a:spcPts val="0"/>
              </a:spcBef>
              <a:spcAft>
                <a:spcPts val="0"/>
              </a:spcAft>
              <a:defRPr sz="900" b="0">
                <a:solidFill>
                  <a:srgbClr val="142A40"/>
                </a:solidFill>
                <a:latin typeface="Arial"/>
              </a:defRPr>
            </a:pPr>
            <a:r>
              <a:rPr>
                <a:hlinkClick r:id="rId2"/>
              </a:rPr>
              <a:t>baseballsavant.mlb.com | retrieved 2026-10-13</a:t>
            </a:r>
          </a:p>
        </p:txBody>
      </p:sp>
      <p:sp>
        <p:nvSpPr>
          <p:cNvPr id="8" name="TextBox 7"/>
          <p:cNvSpPr txBox="1"/>
          <p:nvPr/>
        </p:nvSpPr>
        <p:spPr>
          <a:xfrm>
            <a:off x="609600" y="2476500"/>
            <a:ext cx="5130800" cy="342900"/>
          </a:xfrm>
          <a:prstGeom prst="rect">
            <a:avLst/>
          </a:prstGeom>
          <a:noFill/>
        </p:spPr>
        <p:txBody>
          <a:bodyPr wrap="none" lIns="0" rIns="0" tIns="0" bIns="0">
            <a:spAutoFit/>
          </a:bodyPr>
          <a:lstStyle/>
          <a:p>
            <a:pPr>
              <a:lnSpc>
                <a:spcPts val="1476"/>
              </a:lnSpc>
              <a:spcBef>
                <a:spcPts val="0"/>
              </a:spcBef>
              <a:spcAft>
                <a:spcPts val="0"/>
              </a:spcAft>
              <a:defRPr sz="1200" b="1">
                <a:solidFill>
                  <a:srgbClr val="142A40"/>
                </a:solidFill>
                <a:latin typeface="Arial"/>
              </a:defRPr>
            </a:pPr>
            <a:r>
              <a:rPr>
                <a:hlinkClick r:id="rId3"/>
              </a:rPr>
              <a:t>[MVP24] BBWAA: 2024 National League MVP result</a:t>
            </a:r>
          </a:p>
        </p:txBody>
      </p:sp>
      <p:sp>
        <p:nvSpPr>
          <p:cNvPr id="9" name="TextBox 8"/>
          <p:cNvSpPr txBox="1"/>
          <p:nvPr/>
        </p:nvSpPr>
        <p:spPr>
          <a:xfrm>
            <a:off x="609600" y="2832100"/>
            <a:ext cx="5130800" cy="317500"/>
          </a:xfrm>
          <a:prstGeom prst="rect">
            <a:avLst/>
          </a:prstGeom>
          <a:noFill/>
        </p:spPr>
        <p:txBody>
          <a:bodyPr wrap="none" lIns="0" rIns="0" tIns="0" bIns="0">
            <a:spAutoFit/>
          </a:bodyPr>
          <a:lstStyle/>
          <a:p>
            <a:pPr>
              <a:lnSpc>
                <a:spcPts val="1107"/>
              </a:lnSpc>
              <a:spcBef>
                <a:spcPts val="0"/>
              </a:spcBef>
              <a:spcAft>
                <a:spcPts val="0"/>
              </a:spcAft>
              <a:defRPr sz="900" b="0">
                <a:solidFill>
                  <a:srgbClr val="142A40"/>
                </a:solidFill>
                <a:latin typeface="Arial"/>
              </a:defRPr>
            </a:pPr>
            <a:r>
              <a:rPr>
                <a:hlinkClick r:id="rId3"/>
              </a:rPr>
              <a:t>bbwaa.com | 2024-11-21</a:t>
            </a:r>
          </a:p>
        </p:txBody>
      </p:sp>
      <p:sp>
        <p:nvSpPr>
          <p:cNvPr id="10" name="TextBox 9"/>
          <p:cNvSpPr txBox="1"/>
          <p:nvPr/>
        </p:nvSpPr>
        <p:spPr>
          <a:xfrm>
            <a:off x="609600" y="3111500"/>
            <a:ext cx="5130800" cy="342900"/>
          </a:xfrm>
          <a:prstGeom prst="rect">
            <a:avLst/>
          </a:prstGeom>
          <a:noFill/>
        </p:spPr>
        <p:txBody>
          <a:bodyPr wrap="none" lIns="0" rIns="0" tIns="0" bIns="0">
            <a:spAutoFit/>
          </a:bodyPr>
          <a:lstStyle/>
          <a:p>
            <a:pPr>
              <a:lnSpc>
                <a:spcPts val="1476"/>
              </a:lnSpc>
              <a:spcBef>
                <a:spcPts val="0"/>
              </a:spcBef>
              <a:spcAft>
                <a:spcPts val="0"/>
              </a:spcAft>
              <a:defRPr sz="1200" b="1">
                <a:solidFill>
                  <a:srgbClr val="142A40"/>
                </a:solidFill>
                <a:latin typeface="Arial"/>
              </a:defRPr>
            </a:pPr>
            <a:r>
              <a:rPr>
                <a:hlinkClick r:id="rId4"/>
              </a:rPr>
              <a:t>[MVP25] BBWAA: 2025 National League MVP result</a:t>
            </a:r>
          </a:p>
        </p:txBody>
      </p:sp>
      <p:sp>
        <p:nvSpPr>
          <p:cNvPr id="11" name="TextBox 10"/>
          <p:cNvSpPr txBox="1"/>
          <p:nvPr/>
        </p:nvSpPr>
        <p:spPr>
          <a:xfrm>
            <a:off x="609600" y="3467100"/>
            <a:ext cx="5130800" cy="317500"/>
          </a:xfrm>
          <a:prstGeom prst="rect">
            <a:avLst/>
          </a:prstGeom>
          <a:noFill/>
        </p:spPr>
        <p:txBody>
          <a:bodyPr wrap="none" lIns="0" rIns="0" tIns="0" bIns="0">
            <a:spAutoFit/>
          </a:bodyPr>
          <a:lstStyle/>
          <a:p>
            <a:pPr>
              <a:lnSpc>
                <a:spcPts val="1107"/>
              </a:lnSpc>
              <a:spcBef>
                <a:spcPts val="0"/>
              </a:spcBef>
              <a:spcAft>
                <a:spcPts val="0"/>
              </a:spcAft>
              <a:defRPr sz="900" b="0">
                <a:solidFill>
                  <a:srgbClr val="142A40"/>
                </a:solidFill>
                <a:latin typeface="Arial"/>
              </a:defRPr>
            </a:pPr>
            <a:r>
              <a:rPr>
                <a:hlinkClick r:id="rId4"/>
              </a:rPr>
              <a:t>bbwaa.com | 2025-11-13</a:t>
            </a:r>
          </a:p>
        </p:txBody>
      </p:sp>
      <p:sp>
        <p:nvSpPr>
          <p:cNvPr id="12" name="TextBox 11"/>
          <p:cNvSpPr txBox="1"/>
          <p:nvPr/>
        </p:nvSpPr>
        <p:spPr>
          <a:xfrm>
            <a:off x="609600" y="3746500"/>
            <a:ext cx="5130800" cy="342900"/>
          </a:xfrm>
          <a:prstGeom prst="rect">
            <a:avLst/>
          </a:prstGeom>
          <a:noFill/>
        </p:spPr>
        <p:txBody>
          <a:bodyPr wrap="none" lIns="0" rIns="0" tIns="0" bIns="0">
            <a:spAutoFit/>
          </a:bodyPr>
          <a:lstStyle/>
          <a:p>
            <a:pPr>
              <a:lnSpc>
                <a:spcPts val="1476"/>
              </a:lnSpc>
              <a:spcBef>
                <a:spcPts val="0"/>
              </a:spcBef>
              <a:spcAft>
                <a:spcPts val="0"/>
              </a:spcAft>
              <a:defRPr sz="1200" b="1">
                <a:solidFill>
                  <a:srgbClr val="142A40"/>
                </a:solidFill>
                <a:latin typeface="Arial"/>
              </a:defRPr>
            </a:pPr>
            <a:r>
              <a:rPr>
                <a:hlinkClick r:id="rId5"/>
              </a:rPr>
              <a:t>[ANA1] ANA: Dodgers partnership announcement</a:t>
            </a:r>
          </a:p>
        </p:txBody>
      </p:sp>
      <p:sp>
        <p:nvSpPr>
          <p:cNvPr id="13" name="TextBox 12"/>
          <p:cNvSpPr txBox="1"/>
          <p:nvPr/>
        </p:nvSpPr>
        <p:spPr>
          <a:xfrm>
            <a:off x="609600" y="4102100"/>
            <a:ext cx="5130800" cy="317500"/>
          </a:xfrm>
          <a:prstGeom prst="rect">
            <a:avLst/>
          </a:prstGeom>
          <a:noFill/>
        </p:spPr>
        <p:txBody>
          <a:bodyPr wrap="none" lIns="0" rIns="0" tIns="0" bIns="0">
            <a:spAutoFit/>
          </a:bodyPr>
          <a:lstStyle/>
          <a:p>
            <a:pPr>
              <a:lnSpc>
                <a:spcPts val="1107"/>
              </a:lnSpc>
              <a:spcBef>
                <a:spcPts val="0"/>
              </a:spcBef>
              <a:spcAft>
                <a:spcPts val="0"/>
              </a:spcAft>
              <a:defRPr sz="900" b="0">
                <a:solidFill>
                  <a:srgbClr val="142A40"/>
                </a:solidFill>
                <a:latin typeface="Arial"/>
              </a:defRPr>
            </a:pPr>
            <a:r>
              <a:rPr>
                <a:hlinkClick r:id="rId5"/>
              </a:rPr>
              <a:t>www.anahd.co.jp | 2024-04-02</a:t>
            </a:r>
          </a:p>
        </p:txBody>
      </p:sp>
      <p:sp>
        <p:nvSpPr>
          <p:cNvPr id="14" name="TextBox 13"/>
          <p:cNvSpPr txBox="1"/>
          <p:nvPr/>
        </p:nvSpPr>
        <p:spPr>
          <a:xfrm>
            <a:off x="609600" y="4381500"/>
            <a:ext cx="5130800" cy="342900"/>
          </a:xfrm>
          <a:prstGeom prst="rect">
            <a:avLst/>
          </a:prstGeom>
          <a:noFill/>
        </p:spPr>
        <p:txBody>
          <a:bodyPr wrap="none" lIns="0" rIns="0" tIns="0" bIns="0">
            <a:spAutoFit/>
          </a:bodyPr>
          <a:lstStyle/>
          <a:p>
            <a:pPr>
              <a:lnSpc>
                <a:spcPts val="1476"/>
              </a:lnSpc>
              <a:spcBef>
                <a:spcPts val="0"/>
              </a:spcBef>
              <a:spcAft>
                <a:spcPts val="0"/>
              </a:spcAft>
              <a:defRPr sz="1200" b="1">
                <a:solidFill>
                  <a:srgbClr val="142A40"/>
                </a:solidFill>
                <a:latin typeface="Arial"/>
              </a:defRPr>
            </a:pPr>
            <a:r>
              <a:rPr>
                <a:hlinkClick r:id="rId6"/>
              </a:rPr>
              <a:t>[UNIQLO] Fast Retailing: UNIQLO Dodgers partnership announcement</a:t>
            </a:r>
          </a:p>
        </p:txBody>
      </p:sp>
      <p:sp>
        <p:nvSpPr>
          <p:cNvPr id="15" name="TextBox 14"/>
          <p:cNvSpPr txBox="1"/>
          <p:nvPr/>
        </p:nvSpPr>
        <p:spPr>
          <a:xfrm>
            <a:off x="609600" y="4737100"/>
            <a:ext cx="5130800" cy="317500"/>
          </a:xfrm>
          <a:prstGeom prst="rect">
            <a:avLst/>
          </a:prstGeom>
          <a:noFill/>
        </p:spPr>
        <p:txBody>
          <a:bodyPr wrap="none" lIns="0" rIns="0" tIns="0" bIns="0">
            <a:spAutoFit/>
          </a:bodyPr>
          <a:lstStyle/>
          <a:p>
            <a:pPr>
              <a:lnSpc>
                <a:spcPts val="1107"/>
              </a:lnSpc>
              <a:spcBef>
                <a:spcPts val="0"/>
              </a:spcBef>
              <a:spcAft>
                <a:spcPts val="0"/>
              </a:spcAft>
              <a:defRPr sz="900" b="0">
                <a:solidFill>
                  <a:srgbClr val="142A40"/>
                </a:solidFill>
                <a:latin typeface="Arial"/>
              </a:defRPr>
            </a:pPr>
            <a:r>
              <a:rPr>
                <a:hlinkClick r:id="rId6"/>
              </a:rPr>
              <a:t>www.fastretailing.com | 2026-03-26</a:t>
            </a:r>
          </a:p>
        </p:txBody>
      </p:sp>
      <p:sp>
        <p:nvSpPr>
          <p:cNvPr id="16" name="TextBox 15"/>
          <p:cNvSpPr txBox="1"/>
          <p:nvPr/>
        </p:nvSpPr>
        <p:spPr>
          <a:xfrm>
            <a:off x="609600" y="5016500"/>
            <a:ext cx="5130800" cy="342900"/>
          </a:xfrm>
          <a:prstGeom prst="rect">
            <a:avLst/>
          </a:prstGeom>
          <a:noFill/>
        </p:spPr>
        <p:txBody>
          <a:bodyPr wrap="none" lIns="0" rIns="0" tIns="0" bIns="0">
            <a:spAutoFit/>
          </a:bodyPr>
          <a:lstStyle/>
          <a:p>
            <a:pPr>
              <a:lnSpc>
                <a:spcPts val="1476"/>
              </a:lnSpc>
              <a:spcBef>
                <a:spcPts val="0"/>
              </a:spcBef>
              <a:spcAft>
                <a:spcPts val="0"/>
              </a:spcAft>
              <a:defRPr sz="1200" b="1">
                <a:solidFill>
                  <a:srgbClr val="142A40"/>
                </a:solidFill>
                <a:latin typeface="Arial"/>
              </a:defRPr>
            </a:pPr>
            <a:r>
              <a:rPr>
                <a:hlinkClick r:id="rId7"/>
              </a:rPr>
              <a:t>[JERSEY2024] MLB/MLBPI: 2024 Ohtani Nike jersey-sales ranking</a:t>
            </a:r>
          </a:p>
        </p:txBody>
      </p:sp>
      <p:sp>
        <p:nvSpPr>
          <p:cNvPr id="17" name="TextBox 16"/>
          <p:cNvSpPr txBox="1"/>
          <p:nvPr/>
        </p:nvSpPr>
        <p:spPr>
          <a:xfrm>
            <a:off x="609600" y="5372100"/>
            <a:ext cx="5130800" cy="317500"/>
          </a:xfrm>
          <a:prstGeom prst="rect">
            <a:avLst/>
          </a:prstGeom>
          <a:noFill/>
        </p:spPr>
        <p:txBody>
          <a:bodyPr wrap="none" lIns="0" rIns="0" tIns="0" bIns="0">
            <a:spAutoFit/>
          </a:bodyPr>
          <a:lstStyle/>
          <a:p>
            <a:pPr>
              <a:lnSpc>
                <a:spcPts val="1107"/>
              </a:lnSpc>
              <a:spcBef>
                <a:spcPts val="0"/>
              </a:spcBef>
              <a:spcAft>
                <a:spcPts val="0"/>
              </a:spcAft>
              <a:defRPr sz="900" b="0">
                <a:solidFill>
                  <a:srgbClr val="142A40"/>
                </a:solidFill>
                <a:latin typeface="Arial"/>
              </a:defRPr>
            </a:pPr>
            <a:r>
              <a:rPr>
                <a:hlinkClick r:id="rId7"/>
              </a:rPr>
              <a:t>www.mlb.com | 2024-09-30</a:t>
            </a:r>
          </a:p>
        </p:txBody>
      </p:sp>
      <p:sp>
        <p:nvSpPr>
          <p:cNvPr id="18" name="TextBox 17"/>
          <p:cNvSpPr txBox="1"/>
          <p:nvPr/>
        </p:nvSpPr>
        <p:spPr>
          <a:xfrm>
            <a:off x="6248400" y="1841500"/>
            <a:ext cx="5130800" cy="342900"/>
          </a:xfrm>
          <a:prstGeom prst="rect">
            <a:avLst/>
          </a:prstGeom>
          <a:noFill/>
        </p:spPr>
        <p:txBody>
          <a:bodyPr wrap="none" lIns="0" rIns="0" tIns="0" bIns="0">
            <a:spAutoFit/>
          </a:bodyPr>
          <a:lstStyle/>
          <a:p>
            <a:pPr>
              <a:lnSpc>
                <a:spcPts val="1476"/>
              </a:lnSpc>
              <a:spcBef>
                <a:spcPts val="0"/>
              </a:spcBef>
              <a:spcAft>
                <a:spcPts val="0"/>
              </a:spcAft>
              <a:defRPr sz="1200" b="1">
                <a:solidFill>
                  <a:srgbClr val="142A40"/>
                </a:solidFill>
                <a:latin typeface="Arial"/>
              </a:defRPr>
            </a:pPr>
            <a:r>
              <a:rPr>
                <a:hlinkClick r:id="rId8"/>
              </a:rPr>
              <a:t>[FORBES2026] Forbes: The world's highest-paid athletes, 2026</a:t>
            </a:r>
          </a:p>
        </p:txBody>
      </p:sp>
      <p:sp>
        <p:nvSpPr>
          <p:cNvPr id="19" name="TextBox 18"/>
          <p:cNvSpPr txBox="1"/>
          <p:nvPr/>
        </p:nvSpPr>
        <p:spPr>
          <a:xfrm>
            <a:off x="6248400" y="2197100"/>
            <a:ext cx="5130800" cy="317500"/>
          </a:xfrm>
          <a:prstGeom prst="rect">
            <a:avLst/>
          </a:prstGeom>
          <a:noFill/>
        </p:spPr>
        <p:txBody>
          <a:bodyPr wrap="none" lIns="0" rIns="0" tIns="0" bIns="0">
            <a:spAutoFit/>
          </a:bodyPr>
          <a:lstStyle/>
          <a:p>
            <a:pPr>
              <a:lnSpc>
                <a:spcPts val="1107"/>
              </a:lnSpc>
              <a:spcBef>
                <a:spcPts val="0"/>
              </a:spcBef>
              <a:spcAft>
                <a:spcPts val="0"/>
              </a:spcAft>
              <a:defRPr sz="900" b="0">
                <a:solidFill>
                  <a:srgbClr val="142A40"/>
                </a:solidFill>
                <a:latin typeface="Arial"/>
              </a:defRPr>
            </a:pPr>
            <a:r>
              <a:rPr>
                <a:hlinkClick r:id="rId8"/>
              </a:rPr>
              <a:t>www.forbes.com.au | 2026-05-23</a:t>
            </a:r>
          </a:p>
        </p:txBody>
      </p:sp>
      <p:sp>
        <p:nvSpPr>
          <p:cNvPr id="20" name="TextBox 19"/>
          <p:cNvSpPr txBox="1"/>
          <p:nvPr/>
        </p:nvSpPr>
        <p:spPr>
          <a:xfrm>
            <a:off x="6248400" y="2476500"/>
            <a:ext cx="5130800" cy="342900"/>
          </a:xfrm>
          <a:prstGeom prst="rect">
            <a:avLst/>
          </a:prstGeom>
          <a:noFill/>
        </p:spPr>
        <p:txBody>
          <a:bodyPr wrap="none" lIns="0" rIns="0" tIns="0" bIns="0">
            <a:spAutoFit/>
          </a:bodyPr>
          <a:lstStyle/>
          <a:p>
            <a:pPr>
              <a:lnSpc>
                <a:spcPts val="1476"/>
              </a:lnSpc>
              <a:spcBef>
                <a:spcPts val="0"/>
              </a:spcBef>
              <a:spcAft>
                <a:spcPts val="0"/>
              </a:spcAft>
              <a:defRPr sz="1200" b="1">
                <a:solidFill>
                  <a:srgbClr val="142A40"/>
                </a:solidFill>
                <a:latin typeface="Arial"/>
              </a:defRPr>
            </a:pPr>
            <a:r>
              <a:rPr>
                <a:hlinkClick r:id="rId9"/>
              </a:rPr>
              <a:t>[MLB1] MLB: Ohtani contract deferrals explained</a:t>
            </a:r>
          </a:p>
        </p:txBody>
      </p:sp>
      <p:sp>
        <p:nvSpPr>
          <p:cNvPr id="21" name="TextBox 20"/>
          <p:cNvSpPr txBox="1"/>
          <p:nvPr/>
        </p:nvSpPr>
        <p:spPr>
          <a:xfrm>
            <a:off x="6248400" y="2832100"/>
            <a:ext cx="5130800" cy="317500"/>
          </a:xfrm>
          <a:prstGeom prst="rect">
            <a:avLst/>
          </a:prstGeom>
          <a:noFill/>
        </p:spPr>
        <p:txBody>
          <a:bodyPr wrap="none" lIns="0" rIns="0" tIns="0" bIns="0">
            <a:spAutoFit/>
          </a:bodyPr>
          <a:lstStyle/>
          <a:p>
            <a:pPr>
              <a:lnSpc>
                <a:spcPts val="1107"/>
              </a:lnSpc>
              <a:spcBef>
                <a:spcPts val="0"/>
              </a:spcBef>
              <a:spcAft>
                <a:spcPts val="0"/>
              </a:spcAft>
              <a:defRPr sz="900" b="0">
                <a:solidFill>
                  <a:srgbClr val="142A40"/>
                </a:solidFill>
                <a:latin typeface="Arial"/>
              </a:defRPr>
            </a:pPr>
            <a:r>
              <a:rPr>
                <a:hlinkClick r:id="rId9"/>
              </a:rPr>
              <a:t>www.mlb.com | 2023-12-12</a:t>
            </a:r>
          </a:p>
        </p:txBody>
      </p:sp>
      <p:sp>
        <p:nvSpPr>
          <p:cNvPr id="22" name="TextBox 21"/>
          <p:cNvSpPr txBox="1"/>
          <p:nvPr/>
        </p:nvSpPr>
        <p:spPr>
          <a:xfrm>
            <a:off x="6248400" y="3111500"/>
            <a:ext cx="5130800" cy="342900"/>
          </a:xfrm>
          <a:prstGeom prst="rect">
            <a:avLst/>
          </a:prstGeom>
          <a:noFill/>
        </p:spPr>
        <p:txBody>
          <a:bodyPr wrap="none" lIns="0" rIns="0" tIns="0" bIns="0">
            <a:spAutoFit/>
          </a:bodyPr>
          <a:lstStyle/>
          <a:p>
            <a:pPr>
              <a:lnSpc>
                <a:spcPts val="1414"/>
              </a:lnSpc>
              <a:spcBef>
                <a:spcPts val="0"/>
              </a:spcBef>
              <a:spcAft>
                <a:spcPts val="0"/>
              </a:spcAft>
              <a:defRPr sz="1150" b="1">
                <a:solidFill>
                  <a:srgbClr val="142A40"/>
                </a:solidFill>
                <a:latin typeface="Arial"/>
              </a:defRPr>
            </a:pPr>
            <a:r>
              <a:rPr>
                <a:hlinkClick r:id="rId10"/>
              </a:rPr>
              <a:t>[FRED_MODEL] Fred Cedar: illustrative original-decision payment DCF</a:t>
            </a:r>
          </a:p>
        </p:txBody>
      </p:sp>
      <p:sp>
        <p:nvSpPr>
          <p:cNvPr id="23" name="TextBox 22"/>
          <p:cNvSpPr txBox="1"/>
          <p:nvPr/>
        </p:nvSpPr>
        <p:spPr>
          <a:xfrm>
            <a:off x="6248400" y="3467100"/>
            <a:ext cx="5130800" cy="317500"/>
          </a:xfrm>
          <a:prstGeom prst="rect">
            <a:avLst/>
          </a:prstGeom>
          <a:noFill/>
        </p:spPr>
        <p:txBody>
          <a:bodyPr wrap="none" lIns="0" rIns="0" tIns="0" bIns="0">
            <a:spAutoFit/>
          </a:bodyPr>
          <a:lstStyle/>
          <a:p>
            <a:pPr>
              <a:lnSpc>
                <a:spcPts val="1107"/>
              </a:lnSpc>
              <a:spcBef>
                <a:spcPts val="0"/>
              </a:spcBef>
              <a:spcAft>
                <a:spcPts val="0"/>
              </a:spcAft>
              <a:defRPr sz="900" b="0">
                <a:solidFill>
                  <a:srgbClr val="142A40"/>
                </a:solidFill>
                <a:latin typeface="Arial"/>
              </a:defRPr>
            </a:pPr>
            <a:r>
              <a:rPr>
                <a:hlinkClick r:id="rId10"/>
              </a:rPr>
              <a:t>finance.json | model valuation date 2023-12-31; prepared 2026-10-13</a:t>
            </a:r>
          </a:p>
        </p:txBody>
      </p:sp>
      <p:sp>
        <p:nvSpPr>
          <p:cNvPr id="24" name="TextBox 23"/>
          <p:cNvSpPr txBox="1"/>
          <p:nvPr/>
        </p:nvSpPr>
        <p:spPr>
          <a:xfrm>
            <a:off x="6248400" y="3746500"/>
            <a:ext cx="5130800" cy="342900"/>
          </a:xfrm>
          <a:prstGeom prst="rect">
            <a:avLst/>
          </a:prstGeom>
          <a:noFill/>
        </p:spPr>
        <p:txBody>
          <a:bodyPr wrap="none" lIns="0" rIns="0" tIns="0" bIns="0">
            <a:spAutoFit/>
          </a:bodyPr>
          <a:lstStyle/>
          <a:p>
            <a:pPr>
              <a:lnSpc>
                <a:spcPts val="1476"/>
              </a:lnSpc>
              <a:spcBef>
                <a:spcPts val="0"/>
              </a:spcBef>
              <a:spcAft>
                <a:spcPts val="0"/>
              </a:spcAft>
              <a:defRPr sz="1200" b="1">
                <a:solidFill>
                  <a:srgbClr val="142A40"/>
                </a:solidFill>
                <a:latin typeface="Arial"/>
              </a:defRPr>
            </a:pPr>
            <a:r>
              <a:rPr>
                <a:hlinkClick r:id="rId11"/>
              </a:rPr>
              <a:t>[CBA1] MLBPA: 2022-2026 Basic Agreement</a:t>
            </a:r>
          </a:p>
        </p:txBody>
      </p:sp>
      <p:sp>
        <p:nvSpPr>
          <p:cNvPr id="25" name="TextBox 24"/>
          <p:cNvSpPr txBox="1"/>
          <p:nvPr/>
        </p:nvSpPr>
        <p:spPr>
          <a:xfrm>
            <a:off x="6248400" y="4102100"/>
            <a:ext cx="5130800" cy="317500"/>
          </a:xfrm>
          <a:prstGeom prst="rect">
            <a:avLst/>
          </a:prstGeom>
          <a:noFill/>
        </p:spPr>
        <p:txBody>
          <a:bodyPr wrap="none" lIns="0" rIns="0" tIns="0" bIns="0">
            <a:spAutoFit/>
          </a:bodyPr>
          <a:lstStyle/>
          <a:p>
            <a:pPr>
              <a:lnSpc>
                <a:spcPts val="1107"/>
              </a:lnSpc>
              <a:spcBef>
                <a:spcPts val="0"/>
              </a:spcBef>
              <a:spcAft>
                <a:spcPts val="0"/>
              </a:spcAft>
              <a:defRPr sz="900" b="0">
                <a:solidFill>
                  <a:srgbClr val="142A40"/>
                </a:solidFill>
                <a:latin typeface="Arial"/>
              </a:defRPr>
            </a:pPr>
            <a:r>
              <a:rPr>
                <a:hlinkClick r:id="rId11"/>
              </a:rPr>
              <a:t>www.mlbplayers.com | 2022-2026 agreement</a:t>
            </a:r>
          </a:p>
        </p:txBody>
      </p:sp>
      <p:sp>
        <p:nvSpPr>
          <p:cNvPr id="26" name="TextBox 25"/>
          <p:cNvSpPr txBox="1"/>
          <p:nvPr/>
        </p:nvSpPr>
        <p:spPr>
          <a:xfrm>
            <a:off x="6248400" y="4381500"/>
            <a:ext cx="5130800" cy="342900"/>
          </a:xfrm>
          <a:prstGeom prst="rect">
            <a:avLst/>
          </a:prstGeom>
          <a:noFill/>
        </p:spPr>
        <p:txBody>
          <a:bodyPr wrap="none" lIns="0" rIns="0" tIns="0" bIns="0">
            <a:spAutoFit/>
          </a:bodyPr>
          <a:lstStyle/>
          <a:p>
            <a:pPr>
              <a:lnSpc>
                <a:spcPts val="1476"/>
              </a:lnSpc>
              <a:spcBef>
                <a:spcPts val="0"/>
              </a:spcBef>
              <a:spcAft>
                <a:spcPts val="0"/>
              </a:spcAft>
              <a:defRPr sz="1200" b="1">
                <a:solidFill>
                  <a:srgbClr val="142A40"/>
                </a:solidFill>
                <a:latin typeface="Arial"/>
              </a:defRPr>
            </a:pPr>
            <a:r>
              <a:rPr>
                <a:hlinkClick r:id="rId12"/>
              </a:rPr>
              <a:t>[SOTO1] MLB: Soto agreement</a:t>
            </a:r>
          </a:p>
        </p:txBody>
      </p:sp>
      <p:sp>
        <p:nvSpPr>
          <p:cNvPr id="27" name="TextBox 26"/>
          <p:cNvSpPr txBox="1"/>
          <p:nvPr/>
        </p:nvSpPr>
        <p:spPr>
          <a:xfrm>
            <a:off x="6248400" y="4737100"/>
            <a:ext cx="5130800" cy="317500"/>
          </a:xfrm>
          <a:prstGeom prst="rect">
            <a:avLst/>
          </a:prstGeom>
          <a:noFill/>
        </p:spPr>
        <p:txBody>
          <a:bodyPr wrap="none" lIns="0" rIns="0" tIns="0" bIns="0">
            <a:spAutoFit/>
          </a:bodyPr>
          <a:lstStyle/>
          <a:p>
            <a:pPr>
              <a:lnSpc>
                <a:spcPts val="1107"/>
              </a:lnSpc>
              <a:spcBef>
                <a:spcPts val="0"/>
              </a:spcBef>
              <a:spcAft>
                <a:spcPts val="0"/>
              </a:spcAft>
              <a:defRPr sz="900" b="0">
                <a:solidFill>
                  <a:srgbClr val="142A40"/>
                </a:solidFill>
                <a:latin typeface="Arial"/>
              </a:defRPr>
            </a:pPr>
            <a:r>
              <a:rPr>
                <a:hlinkClick r:id="rId12"/>
              </a:rPr>
              <a:t>www.mlb.com | 2024-12-11</a:t>
            </a:r>
          </a:p>
        </p:txBody>
      </p:sp>
      <p:cxnSp>
        <p:nvCxnSpPr>
          <p:cNvPr id="28" name="Connector 27"/>
          <p:cNvCxnSpPr/>
          <p:nvPr/>
        </p:nvCxnSpPr>
        <p:spPr>
          <a:xfrm>
            <a:off x="609600" y="6515100"/>
            <a:ext cx="10795000" cy="0"/>
          </a:xfrm>
          <a:prstGeom prst="line">
            <a:avLst/>
          </a:prstGeom>
          <a:ln w="12700">
            <a:solidFill>
              <a:srgbClr val="DDED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ORIGINAL-DECISION ILLUSTRATION | assumptions and exclusions apply</a:t>
            </a:r>
          </a:p>
        </p:txBody>
      </p:sp>
      <p:sp>
        <p:nvSpPr>
          <p:cNvPr id="30" name="TextBox 29"/>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506274"/>
                </a:solidFill>
                <a:latin typeface="Arial"/>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Ohtani’s Dodgers contract</dc:title>
  <dc:subject/>
  <dc:creator>ST-1 team</dc:creator>
  <cp:keywords/>
  <dc:description>generated using python-pptx</dc:description>
  <cp:lastModifiedBy>Steve Canny</cp:lastModifiedBy>
  <cp:revision>1</cp:revision>
  <dcterms:created xsi:type="dcterms:W3CDTF">2023-12-31T00:00:00Z</dcterms:created>
  <dcterms:modified xsi:type="dcterms:W3CDTF">2023-12-31T00:00:00Z</dcterms:modified>
  <cp:category/>
</cp:coreProperties>
</file>